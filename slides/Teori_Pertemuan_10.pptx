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62bb75ed1f4af1" /><Relationship Type="http://schemas.openxmlformats.org/officeDocument/2006/relationships/extended-properties" Target="/docProps/app.xml" Id="R9b9109ac1f6e43a8" /><Relationship Type="http://schemas.openxmlformats.org/officeDocument/2006/relationships/officeDocument" Target="/ppt/presentation.xml" Id="Rca259f396cfa41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65ad421b184a2b"/>
  </p:sldMasterIdLst>
  <p:notesMasterIdLst>
    <p:notesMasterId xmlns:r="http://schemas.openxmlformats.org/officeDocument/2006/relationships" r:id="R6f93711fb52f4898"/>
  </p:notesMasterIdLst>
  <p:sldIdLst>
    <p:sldId xmlns:r="http://schemas.openxmlformats.org/officeDocument/2006/relationships" id="256" r:id="Ra024d851ccf84459"/>
    <p:sldId xmlns:r="http://schemas.openxmlformats.org/officeDocument/2006/relationships" id="257" r:id="R2bf4e61458284953"/>
    <p:sldId xmlns:r="http://schemas.openxmlformats.org/officeDocument/2006/relationships" id="258" r:id="R933b2e1bdbfc4196"/>
    <p:sldId xmlns:r="http://schemas.openxmlformats.org/officeDocument/2006/relationships" id="259" r:id="R41666213e16f41c4"/>
    <p:sldId xmlns:r="http://schemas.openxmlformats.org/officeDocument/2006/relationships" id="260" r:id="Rb8d876838eab433e"/>
    <p:sldId xmlns:r="http://schemas.openxmlformats.org/officeDocument/2006/relationships" id="261" r:id="R15bd33a7c6ca4b7d"/>
    <p:sldId xmlns:r="http://schemas.openxmlformats.org/officeDocument/2006/relationships" id="262" r:id="R8e8a177d9ba24c2a"/>
    <p:sldId xmlns:r="http://schemas.openxmlformats.org/officeDocument/2006/relationships" id="263" r:id="R8e1efda03ff945f5"/>
    <p:sldId xmlns:r="http://schemas.openxmlformats.org/officeDocument/2006/relationships" id="264" r:id="R2f11f604ad3b4219"/>
    <p:sldId xmlns:r="http://schemas.openxmlformats.org/officeDocument/2006/relationships" id="265" r:id="Re5662b2ea3304495"/>
    <p:sldId xmlns:r="http://schemas.openxmlformats.org/officeDocument/2006/relationships" id="266" r:id="R7db3845f019b44ae"/>
    <p:sldId xmlns:r="http://schemas.openxmlformats.org/officeDocument/2006/relationships" id="267" r:id="R6b46bacd38a742f8"/>
    <p:sldId xmlns:r="http://schemas.openxmlformats.org/officeDocument/2006/relationships" id="268" r:id="R671b6c77f09448ad"/>
    <p:sldId xmlns:r="http://schemas.openxmlformats.org/officeDocument/2006/relationships" id="269" r:id="R4388f1ddb5fb4c56"/>
    <p:sldId xmlns:r="http://schemas.openxmlformats.org/officeDocument/2006/relationships" id="270" r:id="R7c27b829afec4c2a"/>
    <p:sldId xmlns:r="http://schemas.openxmlformats.org/officeDocument/2006/relationships" id="271" r:id="R2368f34223894af2"/>
    <p:sldId xmlns:r="http://schemas.openxmlformats.org/officeDocument/2006/relationships" id="272" r:id="Rd9a9c59f623d4f92"/>
    <p:sldId xmlns:r="http://schemas.openxmlformats.org/officeDocument/2006/relationships" id="273" r:id="R6cb315979f7d43b3"/>
    <p:sldId xmlns:r="http://schemas.openxmlformats.org/officeDocument/2006/relationships" id="274" r:id="R6cbb8a9bb4cb4344"/>
    <p:sldId xmlns:r="http://schemas.openxmlformats.org/officeDocument/2006/relationships" id="275" r:id="R22a02f862ff14e33"/>
    <p:sldId xmlns:r="http://schemas.openxmlformats.org/officeDocument/2006/relationships" id="276" r:id="Race3f0f05cb044fc"/>
    <p:sldId xmlns:r="http://schemas.openxmlformats.org/officeDocument/2006/relationships" id="277" r:id="R30bb7f78d90f4fe2"/>
    <p:sldId xmlns:r="http://schemas.openxmlformats.org/officeDocument/2006/relationships" id="278" r:id="R3fb21d2574c74bd4"/>
    <p:sldId xmlns:r="http://schemas.openxmlformats.org/officeDocument/2006/relationships" id="279" r:id="R8d3a048e5e684e1c"/>
    <p:sldId xmlns:r="http://schemas.openxmlformats.org/officeDocument/2006/relationships" id="280" r:id="Rdb156ce2de92416a"/>
    <p:sldId xmlns:r="http://schemas.openxmlformats.org/officeDocument/2006/relationships" id="281" r:id="Rd7e6f87f0ce648b8"/>
    <p:sldId xmlns:r="http://schemas.openxmlformats.org/officeDocument/2006/relationships" id="282" r:id="R2207d8c61a3d4c48"/>
    <p:sldId xmlns:r="http://schemas.openxmlformats.org/officeDocument/2006/relationships" id="283" r:id="Rc9e2aa19d40a4410"/>
    <p:sldId xmlns:r="http://schemas.openxmlformats.org/officeDocument/2006/relationships" id="284" r:id="R3a066f65be4148ec"/>
    <p:sldId xmlns:r="http://schemas.openxmlformats.org/officeDocument/2006/relationships" id="285" r:id="R9079bbae43e14ad5"/>
    <p:sldId xmlns:r="http://schemas.openxmlformats.org/officeDocument/2006/relationships" id="286" r:id="R356ee0f2a516468a"/>
    <p:sldId xmlns:r="http://schemas.openxmlformats.org/officeDocument/2006/relationships" id="287" r:id="R57897f714f8644d9"/>
    <p:sldId xmlns:r="http://schemas.openxmlformats.org/officeDocument/2006/relationships" id="288" r:id="Raaab5e2856ce49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3e778280534dbb" /><Relationship Type="http://schemas.openxmlformats.org/officeDocument/2006/relationships/slideMaster" Target="/ppt/slideMasters/slideMaster1.xml" Id="R5d65ad421b184a2b" /><Relationship Type="http://schemas.openxmlformats.org/officeDocument/2006/relationships/notesMaster" Target="/ppt/notesMasters/notesMaster1.xml" Id="R6f93711fb52f4898" /><Relationship Type="http://schemas.openxmlformats.org/officeDocument/2006/relationships/presProps" Target="/ppt/presProps.xml" Id="Re8bebdbd23804e3c" /><Relationship Type="http://schemas.openxmlformats.org/officeDocument/2006/relationships/viewProps" Target="/ppt/viewProps.xml" Id="Rf518f4b535c54f5b" /><Relationship Type="http://schemas.openxmlformats.org/officeDocument/2006/relationships/tableStyles" Target="/ppt/tableStyles.xml" Id="Rb84bbee7c7c44949" /><Relationship Type="http://schemas.openxmlformats.org/officeDocument/2006/relationships/slide" Target="/ppt/slides/slide1.xml" Id="Ra024d851ccf84459" /><Relationship Type="http://schemas.openxmlformats.org/officeDocument/2006/relationships/slide" Target="/ppt/slides/slide2.xml" Id="R2bf4e61458284953" /><Relationship Type="http://schemas.openxmlformats.org/officeDocument/2006/relationships/slide" Target="/ppt/slides/slide3.xml" Id="R933b2e1bdbfc4196" /><Relationship Type="http://schemas.openxmlformats.org/officeDocument/2006/relationships/slide" Target="/ppt/slides/slide4.xml" Id="R41666213e16f41c4" /><Relationship Type="http://schemas.openxmlformats.org/officeDocument/2006/relationships/slide" Target="/ppt/slides/slide5.xml" Id="Rb8d876838eab433e" /><Relationship Type="http://schemas.openxmlformats.org/officeDocument/2006/relationships/slide" Target="/ppt/slides/slide6.xml" Id="R15bd33a7c6ca4b7d" /><Relationship Type="http://schemas.openxmlformats.org/officeDocument/2006/relationships/slide" Target="/ppt/slides/slide7.xml" Id="R8e8a177d9ba24c2a" /><Relationship Type="http://schemas.openxmlformats.org/officeDocument/2006/relationships/slide" Target="/ppt/slides/slide8.xml" Id="R8e1efda03ff945f5" /><Relationship Type="http://schemas.openxmlformats.org/officeDocument/2006/relationships/slide" Target="/ppt/slides/slide9.xml" Id="R2f11f604ad3b4219" /><Relationship Type="http://schemas.openxmlformats.org/officeDocument/2006/relationships/slide" Target="/ppt/slides/slide10.xml" Id="Re5662b2ea3304495" /><Relationship Type="http://schemas.openxmlformats.org/officeDocument/2006/relationships/slide" Target="/ppt/slides/slide11.xml" Id="R7db3845f019b44ae" /><Relationship Type="http://schemas.openxmlformats.org/officeDocument/2006/relationships/slide" Target="/ppt/slides/slide12.xml" Id="R6b46bacd38a742f8" /><Relationship Type="http://schemas.openxmlformats.org/officeDocument/2006/relationships/slide" Target="/ppt/slides/slide13.xml" Id="R671b6c77f09448ad" /><Relationship Type="http://schemas.openxmlformats.org/officeDocument/2006/relationships/slide" Target="/ppt/slides/slide14.xml" Id="R4388f1ddb5fb4c56" /><Relationship Type="http://schemas.openxmlformats.org/officeDocument/2006/relationships/slide" Target="/ppt/slides/slide15.xml" Id="R7c27b829afec4c2a" /><Relationship Type="http://schemas.openxmlformats.org/officeDocument/2006/relationships/slide" Target="/ppt/slides/slide16.xml" Id="R2368f34223894af2" /><Relationship Type="http://schemas.openxmlformats.org/officeDocument/2006/relationships/slide" Target="/ppt/slides/slide17.xml" Id="Rd9a9c59f623d4f92" /><Relationship Type="http://schemas.openxmlformats.org/officeDocument/2006/relationships/slide" Target="/ppt/slides/slide18.xml" Id="R6cb315979f7d43b3" /><Relationship Type="http://schemas.openxmlformats.org/officeDocument/2006/relationships/slide" Target="/ppt/slides/slide19.xml" Id="R6cbb8a9bb4cb4344" /><Relationship Type="http://schemas.openxmlformats.org/officeDocument/2006/relationships/slide" Target="/ppt/slides/slide20.xml" Id="R22a02f862ff14e33" /><Relationship Type="http://schemas.openxmlformats.org/officeDocument/2006/relationships/slide" Target="/ppt/slides/slide21.xml" Id="Race3f0f05cb044fc" /><Relationship Type="http://schemas.openxmlformats.org/officeDocument/2006/relationships/slide" Target="/ppt/slides/slide22.xml" Id="R30bb7f78d90f4fe2" /><Relationship Type="http://schemas.openxmlformats.org/officeDocument/2006/relationships/slide" Target="/ppt/slides/slide23.xml" Id="R3fb21d2574c74bd4" /><Relationship Type="http://schemas.openxmlformats.org/officeDocument/2006/relationships/slide" Target="/ppt/slides/slide24.xml" Id="R8d3a048e5e684e1c" /><Relationship Type="http://schemas.openxmlformats.org/officeDocument/2006/relationships/slide" Target="/ppt/slides/slide25.xml" Id="Rdb156ce2de92416a" /><Relationship Type="http://schemas.openxmlformats.org/officeDocument/2006/relationships/slide" Target="/ppt/slides/slide26.xml" Id="Rd7e6f87f0ce648b8" /><Relationship Type="http://schemas.openxmlformats.org/officeDocument/2006/relationships/slide" Target="/ppt/slides/slide27.xml" Id="R2207d8c61a3d4c48" /><Relationship Type="http://schemas.openxmlformats.org/officeDocument/2006/relationships/slide" Target="/ppt/slides/slide28.xml" Id="Rc9e2aa19d40a4410" /><Relationship Type="http://schemas.openxmlformats.org/officeDocument/2006/relationships/slide" Target="/ppt/slides/slide29.xml" Id="R3a066f65be4148ec" /><Relationship Type="http://schemas.openxmlformats.org/officeDocument/2006/relationships/slide" Target="/ppt/slides/slide30.xml" Id="R9079bbae43e14ad5" /><Relationship Type="http://schemas.openxmlformats.org/officeDocument/2006/relationships/slide" Target="/ppt/slides/slide31.xml" Id="R356ee0f2a516468a" /><Relationship Type="http://schemas.openxmlformats.org/officeDocument/2006/relationships/slide" Target="/ppt/slides/slide32.xml" Id="R57897f714f8644d9" /><Relationship Type="http://schemas.openxmlformats.org/officeDocument/2006/relationships/slide" Target="/ppt/slides/slide33.xml" Id="Raaab5e2856ce49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3d9129517545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1fe93edde74160" /><Relationship Type="http://schemas.openxmlformats.org/officeDocument/2006/relationships/notesMaster" Target="/ppt/notesMasters/notesMaster1.xml" Id="R1c3eb0737d1749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2100b7ad2e49b6" /><Relationship Type="http://schemas.openxmlformats.org/officeDocument/2006/relationships/notesMaster" Target="/ppt/notesMasters/notesMaster1.xml" Id="R2dbe3d93a52446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4283d766154edd" /><Relationship Type="http://schemas.openxmlformats.org/officeDocument/2006/relationships/notesMaster" Target="/ppt/notesMasters/notesMaster1.xml" Id="R42e37bae87814a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a9e5beb8614a78" /><Relationship Type="http://schemas.openxmlformats.org/officeDocument/2006/relationships/notesMaster" Target="/ppt/notesMasters/notesMaster1.xml" Id="Rcbf487eb6d9f4c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17203e5cfc4ff9" /><Relationship Type="http://schemas.openxmlformats.org/officeDocument/2006/relationships/notesMaster" Target="/ppt/notesMasters/notesMaster1.xml" Id="Rc771e06641de4d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c3e6d5e2cb490b" /><Relationship Type="http://schemas.openxmlformats.org/officeDocument/2006/relationships/notesMaster" Target="/ppt/notesMasters/notesMaster1.xml" Id="R673249d11a3148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f22cd349694975" /><Relationship Type="http://schemas.openxmlformats.org/officeDocument/2006/relationships/notesMaster" Target="/ppt/notesMasters/notesMaster1.xml" Id="Rd66befaf57cd4e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06382e59bf414e" /><Relationship Type="http://schemas.openxmlformats.org/officeDocument/2006/relationships/notesMaster" Target="/ppt/notesMasters/notesMaster1.xml" Id="R350eae405adc44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529986ef674625" /><Relationship Type="http://schemas.openxmlformats.org/officeDocument/2006/relationships/notesMaster" Target="/ppt/notesMasters/notesMaster1.xml" Id="R76e3a056f6f249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d20547a13b4efc" /><Relationship Type="http://schemas.openxmlformats.org/officeDocument/2006/relationships/notesMaster" Target="/ppt/notesMasters/notesMaster1.xml" Id="R74a73ae150ca40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e3e6c2ff4f490d" /><Relationship Type="http://schemas.openxmlformats.org/officeDocument/2006/relationships/notesMaster" Target="/ppt/notesMasters/notesMaster1.xml" Id="R9494edf7f9a84b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eea62426bb4f7b" /><Relationship Type="http://schemas.openxmlformats.org/officeDocument/2006/relationships/notesMaster" Target="/ppt/notesMasters/notesMaster1.xml" Id="R5c733fcb4ff54d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3360ebf789455b" /><Relationship Type="http://schemas.openxmlformats.org/officeDocument/2006/relationships/notesMaster" Target="/ppt/notesMasters/notesMaster1.xml" Id="R37facc1ab2c543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e8761cbade4daf" /><Relationship Type="http://schemas.openxmlformats.org/officeDocument/2006/relationships/notesMaster" Target="/ppt/notesMasters/notesMaster1.xml" Id="R2b1cd3f250194c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49d99dff5f414b" /><Relationship Type="http://schemas.openxmlformats.org/officeDocument/2006/relationships/notesMaster" Target="/ppt/notesMasters/notesMaster1.xml" Id="Raef8bc0a8a4747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23c9d0cacb432c" /><Relationship Type="http://schemas.openxmlformats.org/officeDocument/2006/relationships/notesMaster" Target="/ppt/notesMasters/notesMaster1.xml" Id="Re20151fa4f8848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47d56877b54ddd" /><Relationship Type="http://schemas.openxmlformats.org/officeDocument/2006/relationships/notesMaster" Target="/ppt/notesMasters/notesMaster1.xml" Id="Ra3d7a4f04dba4d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38d0fd5a204f6c" /><Relationship Type="http://schemas.openxmlformats.org/officeDocument/2006/relationships/notesMaster" Target="/ppt/notesMasters/notesMaster1.xml" Id="R14c8b7bf9d5b49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720b06bbef4726" /><Relationship Type="http://schemas.openxmlformats.org/officeDocument/2006/relationships/notesMaster" Target="/ppt/notesMasters/notesMaster1.xml" Id="Rf3f882d5727243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fe04f15dc14ab3" /><Relationship Type="http://schemas.openxmlformats.org/officeDocument/2006/relationships/notesMaster" Target="/ppt/notesMasters/notesMaster1.xml" Id="R9ad1d2a5e2ed4f2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9a646062614928" /><Relationship Type="http://schemas.openxmlformats.org/officeDocument/2006/relationships/notesMaster" Target="/ppt/notesMasters/notesMaster1.xml" Id="Rb21c907afac14a8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28fb28710e4ae6" /><Relationship Type="http://schemas.openxmlformats.org/officeDocument/2006/relationships/notesMaster" Target="/ppt/notesMasters/notesMaster1.xml" Id="R28dc443dc1b04ae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72bbd452d2c4310" /><Relationship Type="http://schemas.openxmlformats.org/officeDocument/2006/relationships/notesMaster" Target="/ppt/notesMasters/notesMaster1.xml" Id="Ra48de3a64502451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a8ce87e2ec1447a" /><Relationship Type="http://schemas.openxmlformats.org/officeDocument/2006/relationships/notesMaster" Target="/ppt/notesMasters/notesMaster1.xml" Id="Rfa6652184ea4474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63218b41b554c23" /><Relationship Type="http://schemas.openxmlformats.org/officeDocument/2006/relationships/notesMaster" Target="/ppt/notesMasters/notesMaster1.xml" Id="R3a216f4060db4c4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499464f5894ef1" /><Relationship Type="http://schemas.openxmlformats.org/officeDocument/2006/relationships/notesMaster" Target="/ppt/notesMasters/notesMaster1.xml" Id="R0d763b89115b4bf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75fc283a0494f3c" /><Relationship Type="http://schemas.openxmlformats.org/officeDocument/2006/relationships/notesMaster" Target="/ppt/notesMasters/notesMaster1.xml" Id="Re4404c9bf9bb432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7118a27ba1a4fc2" /><Relationship Type="http://schemas.openxmlformats.org/officeDocument/2006/relationships/notesMaster" Target="/ppt/notesMasters/notesMaster1.xml" Id="Rf0be161225b74fc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0b02ac0f8aa4d54" /><Relationship Type="http://schemas.openxmlformats.org/officeDocument/2006/relationships/notesMaster" Target="/ppt/notesMasters/notesMaster1.xml" Id="Rec41859dd9514af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fbafce76c694377" /><Relationship Type="http://schemas.openxmlformats.org/officeDocument/2006/relationships/notesMaster" Target="/ppt/notesMasters/notesMaster1.xml" Id="R73e13061b8404ab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1b1de5590e04ee8" /><Relationship Type="http://schemas.openxmlformats.org/officeDocument/2006/relationships/notesMaster" Target="/ppt/notesMasters/notesMaster1.xml" Id="Rb0d5e4eaf2a140c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54e8212f3434e1b" /><Relationship Type="http://schemas.openxmlformats.org/officeDocument/2006/relationships/notesMaster" Target="/ppt/notesMasters/notesMaster1.xml" Id="Rb1f43ad94ffe45a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9a3eb0eb62f4928" /><Relationship Type="http://schemas.openxmlformats.org/officeDocument/2006/relationships/notesMaster" Target="/ppt/notesMasters/notesMaster1.xml" Id="Rf7936b3e8a5544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10: https://github.com/SeedFlora/meet10CloudService</a:t>
            </a:r>
          </a:p>
          <a:p xmlns:a="http://schemas.openxmlformats.org/drawingml/2006/main">
            <a:r>
              <a:t>MLOps pipeline: https://docs.cloud.google.com/architecture/mlops-continuous-delivery-and-automation-pipelines-in-machine-learning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Sebelum Lab 10: diagnosis layanan ML</a:t>
            </a:r>
          </a:p>
          <a:p xmlns:a="http://schemas.openxmlformats.org/drawingml/2006/main">
            <a:r>
              <a:t>Kasus kerja: Kasus kerja: skor model masih tampak benar, tetapi respons API melambat saat trafik meningkat. Tim perlu bukti sebelum mengubah kapasitas.</a:t>
            </a:r>
          </a:p>
          <a:p xmlns:a="http://schemas.openxmlformats.org/drawingml/2006/main">
            <a:r>
              <a:t>Aktivitas kelas: Lab 10: kumpulkan log, waktu respons p50/p95, tingkat error, dan metrik aplikasi. Tetapkan SLI/SLO sederhana lalu uji apakah layanan memenuhi target.</a:t>
            </a:r>
          </a:p>
          <a:p xmlns:a="http://schemas.openxmlformats.org/drawingml/2006/main">
            <a:r>
              <a:t>Artikel resmi: https://docs.cloud.google.com/architecture/mlops-continuous-delivery-and-automation-pipelines-in-machine-learning</a:t>
            </a:r>
          </a:p>
          <a:p xmlns:a="http://schemas.openxmlformats.org/drawingml/2006/main">
            <a:r>
              <a:t>Video resmi: https://learn.microsoft.com/en-us/shows/ai-show/scaling-your-aiml-practices-with-mlops-and-azure-machine-learning-part-1</a:t>
            </a:r>
          </a:p>
          <a:p xmlns:a="http://schemas.openxmlformats.org/drawingml/2006/main">
            <a:r>
              <a:t>Pertanyaan diskusi: Diskusi: metrik apa yang membedakan masalah model dari masalah infrastruktur?</a:t>
            </a:r>
          </a:p>
          <a:p xmlns:a="http://schemas.openxmlformats.org/drawingml/2006/main">
            <a:r>
              <a:t>Screenshot output praktik aktual: https://github.com/SeedFlora/meet10CloudService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fd3281c974d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4450cde014fb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f4f8e6e8074a2e" /><Relationship Type="http://schemas.openxmlformats.org/officeDocument/2006/relationships/slideLayout" Target="/ppt/slideLayouts/slideLayout1.xml" Id="Rf50ffcea53e24f7e" /><Relationship Type="http://schemas.openxmlformats.org/officeDocument/2006/relationships/slideLayout" Target="/ppt/slideLayouts/slideLayout2.xml" Id="R0132708eeafe450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0ffcea53e24f7e"/>
    <p:sldLayoutId xmlns:r="http://schemas.openxmlformats.org/officeDocument/2006/relationships" id="2147483650" r:id="R0132708eeafe450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5381a89c04a67" /><Relationship Type="http://schemas.openxmlformats.org/officeDocument/2006/relationships/image" Target="/ppt/media/image.jpeg" Id="Rf3363bb981914f5b" /><Relationship Type="http://schemas.openxmlformats.org/officeDocument/2006/relationships/image" Target="/ppt/media/image.png" Id="R2ad63a4a8c6a4efc" /><Relationship Type="http://schemas.openxmlformats.org/officeDocument/2006/relationships/image" Target="/ppt/media/image2.png" Id="R7c15d900ada44770" /><Relationship Type="http://schemas.openxmlformats.org/officeDocument/2006/relationships/notesSlide" Target="/ppt/notesSlides/notesSlide1.xml" Id="R886f42e79a694f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f91ae062245c1" /><Relationship Type="http://schemas.openxmlformats.org/officeDocument/2006/relationships/image" Target="/ppt/media/image.png" Id="Rcdb3b43550804970" /><Relationship Type="http://schemas.openxmlformats.org/officeDocument/2006/relationships/image" Target="/ppt/media/image2.png" Id="R0f896727de9b4a93" /><Relationship Type="http://schemas.openxmlformats.org/officeDocument/2006/relationships/image" Target="/ppt/media/image3.png" Id="R94f85c0bf29c4ebb" /><Relationship Type="http://schemas.openxmlformats.org/officeDocument/2006/relationships/image" Target="/ppt/media/image4.png" Id="R9f4f565fef65402b" /><Relationship Type="http://schemas.openxmlformats.org/officeDocument/2006/relationships/image" Target="/ppt/media/image5.png" Id="Rcace0b043e0c463a" /><Relationship Type="http://schemas.openxmlformats.org/officeDocument/2006/relationships/image" Target="/ppt/media/image6.png" Id="R36fdf1df6bf04dbb" /><Relationship Type="http://schemas.openxmlformats.org/officeDocument/2006/relationships/image" Target="/ppt/media/image7.png" Id="R975c97875c6145e9" /><Relationship Type="http://schemas.openxmlformats.org/officeDocument/2006/relationships/notesSlide" Target="/ppt/notesSlides/notesSlide2.xml" Id="Rbd10dace33de49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507425f624bf2" /><Relationship Type="http://schemas.openxmlformats.org/officeDocument/2006/relationships/image" Target="/ppt/media/image.png" Id="R76a3819506474018" /><Relationship Type="http://schemas.openxmlformats.org/officeDocument/2006/relationships/image" Target="/ppt/media/image2.png" Id="R278f94721a8044df" /><Relationship Type="http://schemas.openxmlformats.org/officeDocument/2006/relationships/image" Target="/ppt/media/image8.png" Id="R5cb69324fce74785" /><Relationship Type="http://schemas.openxmlformats.org/officeDocument/2006/relationships/image" Target="/ppt/media/image9.png" Id="Rbb339c0d80094af8" /><Relationship Type="http://schemas.openxmlformats.org/officeDocument/2006/relationships/image" Target="/ppt/media/image7.png" Id="Rb91bf6f23f634714" /><Relationship Type="http://schemas.openxmlformats.org/officeDocument/2006/relationships/image" Target="/ppt/media/image6.png" Id="R5c799b0b63cd4a5c" /><Relationship Type="http://schemas.openxmlformats.org/officeDocument/2006/relationships/notesSlide" Target="/ppt/notesSlides/notesSlide3.xml" Id="R31493081e92843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b705979304363" /><Relationship Type="http://schemas.openxmlformats.org/officeDocument/2006/relationships/image" Target="/ppt/media/image.png" Id="Rfdae866f26a74699" /><Relationship Type="http://schemas.openxmlformats.org/officeDocument/2006/relationships/image" Target="/ppt/media/image2.png" Id="Rd9fe99f3c631457e" /><Relationship Type="http://schemas.openxmlformats.org/officeDocument/2006/relationships/notesSlide" Target="/ppt/notesSlides/notesSlide4.xml" Id="Ra56de1cf66644c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38039172247a1" /><Relationship Type="http://schemas.openxmlformats.org/officeDocument/2006/relationships/image" Target="/ppt/media/image.png" Id="Rf9c7159112804e48" /><Relationship Type="http://schemas.openxmlformats.org/officeDocument/2006/relationships/image" Target="/ppt/media/image2.png" Id="R010cf80f1b9444d3" /><Relationship Type="http://schemas.openxmlformats.org/officeDocument/2006/relationships/notesSlide" Target="/ppt/notesSlides/notesSlide5.xml" Id="R122f4e26bb0946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95e5790fe47dc" /><Relationship Type="http://schemas.openxmlformats.org/officeDocument/2006/relationships/image" Target="/ppt/media/image.png" Id="Re07673a3a7f34a47" /><Relationship Type="http://schemas.openxmlformats.org/officeDocument/2006/relationships/image" Target="/ppt/media/image2.png" Id="Rdec356645fe44c0d" /><Relationship Type="http://schemas.openxmlformats.org/officeDocument/2006/relationships/image" Target="/ppt/media/image7.png" Id="R51136359e43e45e8" /><Relationship Type="http://schemas.openxmlformats.org/officeDocument/2006/relationships/image" Target="/ppt/media/image8.png" Id="Rb1de1fa6c7764569" /><Relationship Type="http://schemas.openxmlformats.org/officeDocument/2006/relationships/image" Target="/ppt/media/image10.png" Id="Re4271b95c92b4bd6" /><Relationship Type="http://schemas.openxmlformats.org/officeDocument/2006/relationships/image" Target="/ppt/media/image6.png" Id="R65e60509ced240ed" /><Relationship Type="http://schemas.openxmlformats.org/officeDocument/2006/relationships/notesSlide" Target="/ppt/notesSlides/notesSlide6.xml" Id="Rf1c33f911e8c4c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d7c5b371c4bc2" /><Relationship Type="http://schemas.openxmlformats.org/officeDocument/2006/relationships/image" Target="/ppt/media/image.png" Id="R5e8ebfd75ea34d52" /><Relationship Type="http://schemas.openxmlformats.org/officeDocument/2006/relationships/image" Target="/ppt/media/image2.png" Id="R35cdd46de6e24eac" /><Relationship Type="http://schemas.openxmlformats.org/officeDocument/2006/relationships/notesSlide" Target="/ppt/notesSlides/notesSlide7.xml" Id="R2a46b391c8314c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cf598cf9741b7" /><Relationship Type="http://schemas.openxmlformats.org/officeDocument/2006/relationships/image" Target="/ppt/media/image.png" Id="Rb12b6ed25c294a1a" /><Relationship Type="http://schemas.openxmlformats.org/officeDocument/2006/relationships/image" Target="/ppt/media/image2.png" Id="R5c0943cb8b5848fb" /><Relationship Type="http://schemas.openxmlformats.org/officeDocument/2006/relationships/notesSlide" Target="/ppt/notesSlides/notesSlide8.xml" Id="R668c70da88b241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010bb3f1c4329" /><Relationship Type="http://schemas.openxmlformats.org/officeDocument/2006/relationships/image" Target="/ppt/media/image.png" Id="Rc175678dc90947da" /><Relationship Type="http://schemas.openxmlformats.org/officeDocument/2006/relationships/image" Target="/ppt/media/image2.png" Id="R56061dc9bc914d5d" /><Relationship Type="http://schemas.openxmlformats.org/officeDocument/2006/relationships/notesSlide" Target="/ppt/notesSlides/notesSlide9.xml" Id="Re8b56342820c41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c09dc582541d0" /><Relationship Type="http://schemas.openxmlformats.org/officeDocument/2006/relationships/image" Target="/ppt/media/image.png" Id="Ra53ab527a9c041ba" /><Relationship Type="http://schemas.openxmlformats.org/officeDocument/2006/relationships/image" Target="/ppt/media/image2.png" Id="R8c276fb65a6e4a48" /><Relationship Type="http://schemas.openxmlformats.org/officeDocument/2006/relationships/notesSlide" Target="/ppt/notesSlides/notesSlide10.xml" Id="R67f8d0d9f5744e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eb98b0ded4ec0" /><Relationship Type="http://schemas.openxmlformats.org/officeDocument/2006/relationships/image" Target="/ppt/media/image.png" Id="R4e9afab259da49f6" /><Relationship Type="http://schemas.openxmlformats.org/officeDocument/2006/relationships/image" Target="/ppt/media/image2.png" Id="R1e45449922244065" /><Relationship Type="http://schemas.openxmlformats.org/officeDocument/2006/relationships/notesSlide" Target="/ppt/notesSlides/notesSlide11.xml" Id="R5042b7894a5540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eb65121364bf1" /><Relationship Type="http://schemas.openxmlformats.org/officeDocument/2006/relationships/image" Target="/ppt/media/image.png" Id="Raad2faeaf6244995" /><Relationship Type="http://schemas.openxmlformats.org/officeDocument/2006/relationships/image" Target="/ppt/media/image2.png" Id="R0566035355954598" /><Relationship Type="http://schemas.openxmlformats.org/officeDocument/2006/relationships/notesSlide" Target="/ppt/notesSlides/notesSlide12.xml" Id="R5becb14674e44d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5dc1d6e1442f2" /><Relationship Type="http://schemas.openxmlformats.org/officeDocument/2006/relationships/image" Target="/ppt/media/image.png" Id="R602ad59364c04a51" /><Relationship Type="http://schemas.openxmlformats.org/officeDocument/2006/relationships/image" Target="/ppt/media/image2.png" Id="R188a38fbb9834986" /><Relationship Type="http://schemas.openxmlformats.org/officeDocument/2006/relationships/notesSlide" Target="/ppt/notesSlides/notesSlide13.xml" Id="R32ddd694b1e34c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31f72ebae4545" /><Relationship Type="http://schemas.openxmlformats.org/officeDocument/2006/relationships/image" Target="/ppt/media/image.png" Id="R8c3eb4076d7b4007" /><Relationship Type="http://schemas.openxmlformats.org/officeDocument/2006/relationships/image" Target="/ppt/media/image2.png" Id="Ra8d7e3f0cd5b4c85" /><Relationship Type="http://schemas.openxmlformats.org/officeDocument/2006/relationships/notesSlide" Target="/ppt/notesSlides/notesSlide14.xml" Id="R9fd934f981b149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e9d65f80c467a" /><Relationship Type="http://schemas.openxmlformats.org/officeDocument/2006/relationships/image" Target="/ppt/media/image.png" Id="R1246c6a927994090" /><Relationship Type="http://schemas.openxmlformats.org/officeDocument/2006/relationships/image" Target="/ppt/media/image2.png" Id="R1007812f4abc4f6e" /><Relationship Type="http://schemas.openxmlformats.org/officeDocument/2006/relationships/notesSlide" Target="/ppt/notesSlides/notesSlide15.xml" Id="Rf26901c2636a49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d0927c3034ebd" /><Relationship Type="http://schemas.openxmlformats.org/officeDocument/2006/relationships/image" Target="/ppt/media/image.png" Id="R193d18f27b184b3c" /><Relationship Type="http://schemas.openxmlformats.org/officeDocument/2006/relationships/image" Target="/ppt/media/image2.png" Id="R755bc178f85046f9" /><Relationship Type="http://schemas.openxmlformats.org/officeDocument/2006/relationships/image" Target="/ppt/media/image11.png" Id="R2639e302c72843e3" /><Relationship Type="http://schemas.openxmlformats.org/officeDocument/2006/relationships/image" Target="/ppt/media/image12.png" Id="Rf80f8fc3f8bf4275" /><Relationship Type="http://schemas.openxmlformats.org/officeDocument/2006/relationships/image" Target="/ppt/media/image6.png" Id="R497755f4719e41c3" /><Relationship Type="http://schemas.openxmlformats.org/officeDocument/2006/relationships/image" Target="/ppt/media/image13.png" Id="R843106d0bf4f444c" /><Relationship Type="http://schemas.openxmlformats.org/officeDocument/2006/relationships/image" Target="/ppt/media/image5.png" Id="Rf513b782bccd416c" /><Relationship Type="http://schemas.openxmlformats.org/officeDocument/2006/relationships/notesSlide" Target="/ppt/notesSlides/notesSlide16.xml" Id="R91d55aba86494d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453004fb7425e" /><Relationship Type="http://schemas.openxmlformats.org/officeDocument/2006/relationships/image" Target="/ppt/media/image.png" Id="R712b27435f074eeb" /><Relationship Type="http://schemas.openxmlformats.org/officeDocument/2006/relationships/image" Target="/ppt/media/image2.png" Id="R0619dfd34e424400" /><Relationship Type="http://schemas.openxmlformats.org/officeDocument/2006/relationships/image" Target="/ppt/media/image11.png" Id="Rfa8af65533df48cf" /><Relationship Type="http://schemas.openxmlformats.org/officeDocument/2006/relationships/image" Target="/ppt/media/image6.png" Id="R3a766e4c2cc1434f" /><Relationship Type="http://schemas.openxmlformats.org/officeDocument/2006/relationships/image" Target="/ppt/media/image14.png" Id="R9b3b1567de2d4f78" /><Relationship Type="http://schemas.openxmlformats.org/officeDocument/2006/relationships/image" Target="/ppt/media/image15.png" Id="R38da1f2588604e83" /><Relationship Type="http://schemas.openxmlformats.org/officeDocument/2006/relationships/image" Target="/ppt/media/image7.png" Id="R1b64dfee422147bd" /><Relationship Type="http://schemas.openxmlformats.org/officeDocument/2006/relationships/image" Target="/ppt/media/image12.png" Id="R877bc6f067f44d8d" /><Relationship Type="http://schemas.openxmlformats.org/officeDocument/2006/relationships/image" Target="/ppt/media/image13.png" Id="R92cee43d03874080" /><Relationship Type="http://schemas.openxmlformats.org/officeDocument/2006/relationships/image" Target="/ppt/media/image8.png" Id="R16348546108a4047" /><Relationship Type="http://schemas.openxmlformats.org/officeDocument/2006/relationships/notesSlide" Target="/ppt/notesSlides/notesSlide17.xml" Id="R3f7a45240b574f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ca675102d421b" /><Relationship Type="http://schemas.openxmlformats.org/officeDocument/2006/relationships/image" Target="/ppt/media/image.png" Id="Raadd119cf8ae49f6" /><Relationship Type="http://schemas.openxmlformats.org/officeDocument/2006/relationships/image" Target="/ppt/media/image2.png" Id="R5c1985b8876b44dc" /><Relationship Type="http://schemas.openxmlformats.org/officeDocument/2006/relationships/image" Target="/ppt/media/image16.png" Id="R7d3b0be493ce40a5" /><Relationship Type="http://schemas.openxmlformats.org/officeDocument/2006/relationships/image" Target="/ppt/media/image6.png" Id="R3a07e8080b644a98" /><Relationship Type="http://schemas.openxmlformats.org/officeDocument/2006/relationships/image" Target="/ppt/media/image11.png" Id="R74a82b13c67541c1" /><Relationship Type="http://schemas.openxmlformats.org/officeDocument/2006/relationships/image" Target="/ppt/media/image14.png" Id="Rc368327f4ee24b30" /><Relationship Type="http://schemas.openxmlformats.org/officeDocument/2006/relationships/image" Target="/ppt/media/image5.png" Id="R7052cf0343674b09" /><Relationship Type="http://schemas.openxmlformats.org/officeDocument/2006/relationships/notesSlide" Target="/ppt/notesSlides/notesSlide18.xml" Id="Rce673dbc488b45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5923cdeba46bd" /><Relationship Type="http://schemas.openxmlformats.org/officeDocument/2006/relationships/image" Target="/ppt/media/image.png" Id="R4418c8c79bf14bb5" /><Relationship Type="http://schemas.openxmlformats.org/officeDocument/2006/relationships/image" Target="/ppt/media/image2.png" Id="R5bc61267c79545be" /><Relationship Type="http://schemas.openxmlformats.org/officeDocument/2006/relationships/notesSlide" Target="/ppt/notesSlides/notesSlide19.xml" Id="Ree8ce223d56444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bb65ce1b24e64" /><Relationship Type="http://schemas.openxmlformats.org/officeDocument/2006/relationships/image" Target="/ppt/media/image.png" Id="Rbc425c68a848415e" /><Relationship Type="http://schemas.openxmlformats.org/officeDocument/2006/relationships/image" Target="/ppt/media/image2.png" Id="R54a01a336b164cb3" /><Relationship Type="http://schemas.openxmlformats.org/officeDocument/2006/relationships/notesSlide" Target="/ppt/notesSlides/notesSlide20.xml" Id="R53f8e739b03e46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f0d9a46f84c3b" /><Relationship Type="http://schemas.openxmlformats.org/officeDocument/2006/relationships/image" Target="/ppt/media/image.png" Id="Re5c279d299ef453c" /><Relationship Type="http://schemas.openxmlformats.org/officeDocument/2006/relationships/image" Target="/ppt/media/image2.png" Id="R49999563fdc54a38" /><Relationship Type="http://schemas.openxmlformats.org/officeDocument/2006/relationships/image" Target="/ppt/media/image10.png" Id="R67a3c2ec3a2a40e4" /><Relationship Type="http://schemas.openxmlformats.org/officeDocument/2006/relationships/image" Target="/ppt/media/image11.png" Id="Rbc47f60787b84aaa" /><Relationship Type="http://schemas.openxmlformats.org/officeDocument/2006/relationships/image" Target="/ppt/media/image6.png" Id="R334524e60cff4348" /><Relationship Type="http://schemas.openxmlformats.org/officeDocument/2006/relationships/image" Target="/ppt/media/image7.png" Id="Ra86f0f5cc59042f4" /><Relationship Type="http://schemas.openxmlformats.org/officeDocument/2006/relationships/image" Target="/ppt/media/image5.png" Id="Raf622dcbaaf047b4" /><Relationship Type="http://schemas.openxmlformats.org/officeDocument/2006/relationships/image" Target="/ppt/media/image12.png" Id="R81d28058d23f4c88" /><Relationship Type="http://schemas.openxmlformats.org/officeDocument/2006/relationships/notesSlide" Target="/ppt/notesSlides/notesSlide21.xml" Id="R28b0965eda8c4f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74881651948d4" /><Relationship Type="http://schemas.openxmlformats.org/officeDocument/2006/relationships/image" Target="/ppt/media/image.png" Id="Rcfa4afbad99c438f" /><Relationship Type="http://schemas.openxmlformats.org/officeDocument/2006/relationships/image" Target="/ppt/media/image2.png" Id="Ra4d7440a6e1e44e9" /><Relationship Type="http://schemas.openxmlformats.org/officeDocument/2006/relationships/notesSlide" Target="/ppt/notesSlides/notesSlide22.xml" Id="Rb4072f6fc59b41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d4ca40de64241" /><Relationship Type="http://schemas.openxmlformats.org/officeDocument/2006/relationships/image" Target="/ppt/media/image.png" Id="R65746eca91ef4722" /><Relationship Type="http://schemas.openxmlformats.org/officeDocument/2006/relationships/image" Target="/ppt/media/image2.png" Id="Rfa9d5f7f458d40cb" /><Relationship Type="http://schemas.openxmlformats.org/officeDocument/2006/relationships/image" Target="/ppt/media/image5.png" Id="R59aca4e492484347" /><Relationship Type="http://schemas.openxmlformats.org/officeDocument/2006/relationships/image" Target="/ppt/media/image7.png" Id="R74c130b8b9d64a28" /><Relationship Type="http://schemas.openxmlformats.org/officeDocument/2006/relationships/image" Target="/ppt/media/image17.png" Id="R199f6ed0b5f44298" /><Relationship Type="http://schemas.openxmlformats.org/officeDocument/2006/relationships/image" Target="/ppt/media/image11.png" Id="R9071294291934b45" /><Relationship Type="http://schemas.openxmlformats.org/officeDocument/2006/relationships/notesSlide" Target="/ppt/notesSlides/notesSlide23.xml" Id="Rb9d8dd893b3b4e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5099c27f345bc" /><Relationship Type="http://schemas.openxmlformats.org/officeDocument/2006/relationships/image" Target="/ppt/media/image.png" Id="Rab9ddcf06485404f" /><Relationship Type="http://schemas.openxmlformats.org/officeDocument/2006/relationships/image" Target="/ppt/media/image2.png" Id="R5c4e6878e23844eb" /><Relationship Type="http://schemas.openxmlformats.org/officeDocument/2006/relationships/notesSlide" Target="/ppt/notesSlides/notesSlide24.xml" Id="Rb80e0ae1254545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0b67a014948f8" /><Relationship Type="http://schemas.openxmlformats.org/officeDocument/2006/relationships/image" Target="/ppt/media/image.png" Id="Rbafb58ff1fad43ae" /><Relationship Type="http://schemas.openxmlformats.org/officeDocument/2006/relationships/image" Target="/ppt/media/image2.png" Id="R479b90c783d5440d" /><Relationship Type="http://schemas.openxmlformats.org/officeDocument/2006/relationships/notesSlide" Target="/ppt/notesSlides/notesSlide25.xml" Id="R77e079c16ce44d0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6c3032c0d4012" /><Relationship Type="http://schemas.openxmlformats.org/officeDocument/2006/relationships/image" Target="/ppt/media/image.png" Id="R03e095d097d746f5" /><Relationship Type="http://schemas.openxmlformats.org/officeDocument/2006/relationships/image" Target="/ppt/media/image2.png" Id="R227375af50df4cb4" /><Relationship Type="http://schemas.openxmlformats.org/officeDocument/2006/relationships/image" Target="/ppt/media/image8.png" Id="Rd5452aee6f4f4f17" /><Relationship Type="http://schemas.openxmlformats.org/officeDocument/2006/relationships/image" Target="/ppt/media/image18.png" Id="R2c4ca3efb73749e8" /><Relationship Type="http://schemas.openxmlformats.org/officeDocument/2006/relationships/image" Target="/ppt/media/image7.png" Id="R5f2657749baa4929" /><Relationship Type="http://schemas.openxmlformats.org/officeDocument/2006/relationships/image" Target="/ppt/media/image6.png" Id="R2546d9042143440e" /><Relationship Type="http://schemas.openxmlformats.org/officeDocument/2006/relationships/image" Target="/ppt/media/image14.png" Id="Rf5fe336cd0994239" /><Relationship Type="http://schemas.openxmlformats.org/officeDocument/2006/relationships/notesSlide" Target="/ppt/notesSlides/notesSlide26.xml" Id="Rd7365a00442c43e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ea43c556b42a9" /><Relationship Type="http://schemas.openxmlformats.org/officeDocument/2006/relationships/image" Target="/ppt/media/image.png" Id="R4be970f7ff9e432c" /><Relationship Type="http://schemas.openxmlformats.org/officeDocument/2006/relationships/image" Target="/ppt/media/image2.png" Id="Rd2effa10399140ad" /><Relationship Type="http://schemas.openxmlformats.org/officeDocument/2006/relationships/notesSlide" Target="/ppt/notesSlides/notesSlide27.xml" Id="R03390a65f2014cd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335367ef04b99" /><Relationship Type="http://schemas.openxmlformats.org/officeDocument/2006/relationships/image" Target="/ppt/media/image.png" Id="R482e42f2242f4bda" /><Relationship Type="http://schemas.openxmlformats.org/officeDocument/2006/relationships/image" Target="/ppt/media/image2.png" Id="R52658ca46f474026" /><Relationship Type="http://schemas.openxmlformats.org/officeDocument/2006/relationships/image" Target="/ppt/media/image13.png" Id="R213cf40efb444a0b" /><Relationship Type="http://schemas.openxmlformats.org/officeDocument/2006/relationships/image" Target="/ppt/media/image8.png" Id="R8a3193de20034a21" /><Relationship Type="http://schemas.openxmlformats.org/officeDocument/2006/relationships/notesSlide" Target="/ppt/notesSlides/notesSlide28.xml" Id="R52849559835a4a1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80f1ac9954309" /><Relationship Type="http://schemas.openxmlformats.org/officeDocument/2006/relationships/image" Target="/ppt/media/image.png" Id="R7d14e00845434145" /><Relationship Type="http://schemas.openxmlformats.org/officeDocument/2006/relationships/image" Target="/ppt/media/image2.png" Id="R300cd3b1977c4825" /><Relationship Type="http://schemas.openxmlformats.org/officeDocument/2006/relationships/notesSlide" Target="/ppt/notesSlides/notesSlide29.xml" Id="R581ed9c035334d8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0aa7ac21c47d5" /><Relationship Type="http://schemas.openxmlformats.org/officeDocument/2006/relationships/image" Target="/ppt/media/image.png" Id="R053f975ada76407e" /><Relationship Type="http://schemas.openxmlformats.org/officeDocument/2006/relationships/image" Target="/ppt/media/image2.png" Id="Rdfa3e1e2ffb144a7" /><Relationship Type="http://schemas.openxmlformats.org/officeDocument/2006/relationships/notesSlide" Target="/ppt/notesSlides/notesSlide30.xml" Id="R194d7eb637dd4f0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9746da0ff4c42" /><Relationship Type="http://schemas.openxmlformats.org/officeDocument/2006/relationships/image" Target="/ppt/media/image.png" Id="Re897e0539b244532" /><Relationship Type="http://schemas.openxmlformats.org/officeDocument/2006/relationships/image" Target="/ppt/media/image2.png" Id="R9ae0988d56fc467e" /><Relationship Type="http://schemas.openxmlformats.org/officeDocument/2006/relationships/image" Target="/ppt/media/image19.png" Id="Rb2b22d2e66e14ce8" /><Relationship Type="http://schemas.openxmlformats.org/officeDocument/2006/relationships/image" Target="/ppt/media/image14.png" Id="Rbac047f02cea4a21" /><Relationship Type="http://schemas.openxmlformats.org/officeDocument/2006/relationships/image" Target="/ppt/media/image20.png" Id="R801d404e014d4572" /><Relationship Type="http://schemas.openxmlformats.org/officeDocument/2006/relationships/notesSlide" Target="/ppt/notesSlides/notesSlide31.xml" Id="Raeb75346d03b40a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66a6d56a7f497c" /><Relationship Type="http://schemas.openxmlformats.org/officeDocument/2006/relationships/notesSlide" Target="/ppt/notesSlides/notesSlide32.xml" Id="Rcb905f38a4ac4cb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bbb914d154615" /><Relationship Type="http://schemas.openxmlformats.org/officeDocument/2006/relationships/hyperlink" Target="https://docs.cloud.google.com/architecture/mlops-continuous-delivery-and-automation-pipelines-in-machine-learning" TargetMode="External" Id="R74abacfd17df4e3f" /><Relationship Type="http://schemas.openxmlformats.org/officeDocument/2006/relationships/hyperlink" Target="https://learn.microsoft.com/en-us/shows/ai-show/scaling-your-aiml-practices-with-mlops-and-azure-machine-learning-part-1" TargetMode="External" Id="R812e3a907cf0469d" /><Relationship Type="http://schemas.openxmlformats.org/officeDocument/2006/relationships/image" Target="/ppt/media/image21.png" Id="Rcf6e27ff4a8a4363" /><Relationship Type="http://schemas.openxmlformats.org/officeDocument/2006/relationships/notesSlide" Target="/ppt/notesSlides/notesSlide33.xml" Id="Rb4c8a6e2e5034d9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3363bb981914f5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63a4a8c6a4e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5d900ada44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600C1F59-FCD8-4B7D-BAA4-0FBB6A22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2 SKS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39ECFD5F-3C21-42A5-BC09-F83B9DE9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11247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IN PRODUCTION</a:t>
            </a:r>
            <a:endParaRPr sz="46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3C23BA15-52BD-4419-A37D-7858AB74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Monitoring, A/B Testing, MLOps, Cost Optimization</a:t>
            </a:r>
            <a:endParaRPr sz="1800"/>
          </a:p>
        </p:txBody>
      </p:sp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E877593-D658-4539-97B8-8786E92F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537C3DB-C3BA-44AE-9D7F-3245EEB4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10  |  100 MENIT</a:t>
            </a:r>
            <a:endParaRPr sz="1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4A61379-6F4F-4D12-9CB5-98025BF3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496EC1F-3CB9-4A6B-9D2E-F505379B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746112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DE7893-F32B-4102-9F03-3E238E2E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2F8443-1606-4663-8501-101AFD5D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1848124-7B9E-47E2-B278-62E27D1D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3b435508049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96727de9b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765A471-86CD-4F37-B5C1-663A2A05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030E58A-AD30-4358-94C3-320D4B87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Recap Pertemuan 9 &amp; Agenda Hari Ini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C50BCF6-A391-42CE-8485-4701531F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Demo deployed - sekarang serius bicara production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36E99D9-16DA-4942-9668-B352E6CA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3313B9E-95E2-4CE3-B2A6-565336C4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DI PERTEMUAN 9, KITA SUDAH: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HF Spaces &amp; ML Deploy</a:t>
            </a:r>
            <a:endParaRPr sz="1100"/>
          </a:p>
        </p:txBody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85c0bf29c4e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F29FE98-47C8-4449-950E-CAD0CB1C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HF Hub - 700K+ pretrained model siap pakai</a:t>
            </a:r>
            <a:endParaRPr sz="1200"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f565fef6540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375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250CE2B-79A6-48FF-AA8C-C6E0459E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Gradio bikin UI ML dalam &lt; 20 baris Python</a:t>
            </a:r>
            <a:endParaRPr sz="1200"/>
          </a:p>
        </p:txBody>
      </p:sp>
      <p:pic>
        <p:nvPicPr>
          <p:cNvPr id="4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e0b043e0c46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77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0AEE6070-5DD6-45C0-96FA-0634D770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Spaces: git push -&gt; auto build -&gt; live URL</a:t>
            </a:r>
            <a:endParaRPr sz="1200"/>
          </a:p>
        </p:txBody>
      </p:sp>
      <p:pic>
        <p:nvPicPr>
          <p:cNvPr id="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df1df6bf0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17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E08716FE-7B8D-48B1-8D7C-FE23651C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262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Jalur lokal untuk demo; cloud sesuai paket</a:t>
            </a:r>
            <a:endParaRPr sz="1200"/>
          </a:p>
        </p:txBody>
      </p:sp>
      <p:pic>
        <p:nvPicPr>
          <p:cNvPr id="5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c97875c6145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6FB25743-164A-4C5C-97AC-B0CA3912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663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Inference Providers berkuota; Endpoints untuk prod</a:t>
            </a:r>
            <a:endParaRPr sz="1200"/>
          </a:p>
        </p:txBody>
      </p:sp>
      <p:sp>
        <p:nvSpPr>
          <p:cNvPr id="22" name="Shape 13">
            <a:extLst xmlns:a="http://schemas.openxmlformats.org/drawingml/2006/main">
              <a:ext uri="{FF2B5EF4-FFF2-40B4-BE49-F238E27FC236}">
                <a16:creationId xmlns:a16="http://schemas.microsoft.com/office/drawing/2014/main" id="{808A0165-E27B-46D1-B5D3-9C12A21B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77C1237D-6741-4C8A-81C9-6E30A2FA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HARI INI, KITA AKAN: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in Production</a:t>
            </a:r>
            <a:endParaRPr sz="1100"/>
          </a:p>
        </p:txBody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8F7816BA-B4B2-4C09-9DA3-B93596E8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Kenapa ML production beda dari software biasa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Data drift vs concept drift - 'model decay'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Monitoring 3-layer (system, model, business)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Deployment strategy (canary, shadow, A/B)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MLOps tools (MLflow, W&amp;B, Evidently)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Cost optimization GPU + auto-scaling</a:t>
            </a:r>
            <a:endParaRPr sz="1200"/>
          </a:p>
        </p:txBody>
      </p:sp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1AE928B2-8E92-46F4-B3FD-CD5F03D5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Praktikum 9 (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Tambah monitoring + drift detection ke HF Space P8</a:t>
            </a: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) jalan setelah sesi ini.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22162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12EB30-4ABA-4211-B177-7781F111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372F51-3569-4348-AD32-8BBCAD4F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539C799-57D8-4290-A31C-61C540D5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38195064740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f94721a8044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257E163-0C4A-467F-BF0C-F1528577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96E5918-A936-48AD-AD7D-EF7272E2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Learning Outcomes - Pertemuan 10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1162EB2-FB64-46F8-BD28-83BAC87F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Capaian Sesi Hari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62D7CE7-62A1-4E2E-8939-D1CFCA7D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E465E8F-8188-408A-BA38-9B5158D9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AB1EE47B-B117-4D16-80F4-7A09B7E0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E622171-534E-451B-B3D3-8DCF8855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69324fce7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6800C687-85AA-4FB9-AD76-84AF5235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Mengidentifikasi</a:t>
            </a:r>
            <a:endParaRPr sz="17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39C9A9E2-DE79-4EAE-965E-C86DD3F3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failure mode ML production (data drift, concept drift, training-serving skew).</a:t>
            </a:r>
            <a:endParaRPr sz="12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1579124F-F7D0-4C7D-8097-0D0B9E98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D9AAC004-5EEA-4CCE-974B-47EC97AB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6563D241-B452-47CD-8A86-9D36BCB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826BA77A-7C56-4262-9D8A-E2C3455E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39c0d80094a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8072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83D4C210-8B02-439E-AA68-98D6CF50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Merancang</a:t>
            </a:r>
            <a:endParaRPr sz="17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931DAAF5-198C-4F19-91A1-81E9FB88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monitoring 3-layer untuk model: system, model performance, business KPI.</a:t>
            </a:r>
            <a:endParaRPr sz="12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AC74F8E0-0C1D-418C-B4CB-2E6577A5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4E660890-E44F-4569-A67C-E4983E0F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C519754D-5277-42E7-8359-6A0C2409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FC13BCD-B633-44A5-8419-6D2F204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bf6f23f63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0144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AF49DC87-3230-45C9-9AE3-48CAAC49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Memilih</a:t>
            </a:r>
            <a:endParaRPr sz="17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D96F0979-25B7-4841-AD3B-37B2282B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deployment strategy yang sesuai (canary/shadow/blue-green) per skenario.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C3ACA5AF-82A3-4FB9-8A67-26A995E0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ACFBDA24-D23D-4318-886E-1A19AF33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259D1989-9149-45D3-9C9D-5749A476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D5467504-7A25-48BF-9AA9-F6E6CF8D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99b0b63cd4a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72216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BDE6B346-7357-4A07-BA64-6ED259B1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Mengevaluasi</a:t>
            </a:r>
            <a:endParaRPr sz="17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3D2D0761-2F09-4042-96BD-5EFF0F8F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MLOps tools (MLflow, W&amp;B, Evidently) untuk pipeline production.</a:t>
            </a:r>
            <a:endParaRPr sz="12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D3159569-7E07-4F7C-A36B-6B0A7400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50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LO3 (Evaluate – ML production design)  +  LO1 (Analyze – pilih strategy + tools)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17867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F5ABAB-DE48-4115-A860-2735FBE5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F0A0FB-D1F5-4E96-9A83-0BB7B287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0EE44AF-A94E-4E28-B6E8-9BD35DC8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AE89C74-A4BA-4495-A625-0B5F84CD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0193B35-F164-4503-B536-63F90064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5BCBBBB-4B89-46CB-A85F-3F0D480C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B0A7018-69F7-469A-8B38-1CAD12AE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e866f26a746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e99f3c631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299C321-D316-4B63-BFDE-650DDA47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D70C05F-3BF6-4B44-B9EA-21F6B8D8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Kenapa ML Production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Beda?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23F418A-6F99-4077-93BD-42F66EE2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333A19-C76D-4F0E-97D8-DFE97485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Software biasa: code = behavior. ML: data + code = behavior. Yang berarti banyak masalah baru.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79207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114B5E-68F5-460F-B0DE-185263E6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4033F0-78E1-4E8E-BCD6-50931C59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DDEB582-265D-464A-9A14-95799F4E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715911280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cf80f1b9444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998F853-7F32-48C5-B632-B262CD91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33B6D0C-71E6-4786-BFB3-03B26EF2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ML System vs Traditional Software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B012138-B40B-488E-AB4A-8024F3AA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perbedaan fundamental yang bikin ML production lebih sulit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D74648B-94C5-435B-B79C-F22DE5FE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8CCFAB3-1791-4C22-B700-8754ECA7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Aspect</a:t>
            </a:r>
            <a:endParaRPr sz="11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E6F46C1-5900-424B-BAFF-80E70806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41732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Traditional Software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6B24955-3A95-484B-8FF2-1DA022C5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417320"/>
            <a:ext cx="4206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ML System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F8672683-AB82-4F22-84DC-26157100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124712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155DB7B-A384-4995-9A8D-8F53B7B5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1516B9E-AB8D-462D-BE9F-F6DE0E37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Behavior</a:t>
            </a:r>
            <a:endParaRPr sz="11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4614466-2D76-4C00-B823-814ECC15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828800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Deterministic - code = output</a:t>
            </a:r>
            <a:endParaRPr sz="10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67436CEA-7A59-422B-83EC-371A930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828800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Probabilistic - data + code = output</a:t>
            </a:r>
            <a:endParaRPr sz="10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7F87B06-4925-41F0-87FA-FA25F03A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5728"/>
            <a:ext cx="1124712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AFCE380F-D2C4-4C37-A8B1-93EDA0D2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5728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E44BD28-1F49-4751-9106-F8ED4FC1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95728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Testing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7E3EE7B-5E38-4EDE-979F-56E9CAA6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95728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Unit test, integration test</a:t>
            </a:r>
            <a:endParaRPr sz="105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9AB3EBB-07E7-4720-9E9E-45A91127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395728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Data validation, drift test, fairness test</a:t>
            </a:r>
            <a:endParaRPr sz="10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47006E05-48A4-491C-AB5A-4052D162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656"/>
            <a:ext cx="1124712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AD481379-6831-49EB-AF47-E7B9BD67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656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668237F-3DDE-4306-9F9B-0EA54EB1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62656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Failure mode</a:t>
            </a:r>
            <a:endParaRPr sz="11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F715F07-F24F-47B4-B490-CCD052F9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62656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Crash, error, exception (loud)</a:t>
            </a:r>
            <a:endParaRPr sz="105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FEDBCA7-4D4F-4E95-8325-39A0C2E0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962656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Silent degradation - prediksi salah tapi tidak error</a:t>
            </a:r>
            <a:endParaRPr sz="10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552F022-A20C-4689-B02B-17F42E08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9584"/>
            <a:ext cx="1124712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FD74F2C-AE50-42C3-8DCE-32AF24BD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9584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4B74975-06B8-45B7-9EBE-A4BC9421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9584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Versioning</a:t>
            </a:r>
            <a:endParaRPr sz="11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569E0F8-0BB0-406C-B8E7-D4B33721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529584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Code (git) saja</a:t>
            </a:r>
            <a:endParaRPr sz="105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30A05F-6454-449E-B1F0-D5EE5524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529584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Code + data + model + config harus sinkron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D4637F6F-B19C-44FB-846B-4AFA5CA6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6512"/>
            <a:ext cx="1124712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17AD3911-ADBF-4C10-8F6F-B818691C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6512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5AA7BCEE-3655-4AB9-998E-6B424CF3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96512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Reproducibility</a:t>
            </a:r>
            <a:endParaRPr sz="11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FADF1E71-16CE-47AD-BC63-4F63942A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096512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Sama input = sama output</a:t>
            </a:r>
            <a:endParaRPr sz="105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0225E101-8A05-45F2-BF0C-060E8CAC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096512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Random seed, data version, library version harus pin</a:t>
            </a:r>
            <a:endParaRPr sz="105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E9AEE925-88AE-4C0D-8C24-32C274AF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1124712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C40F5D75-4739-4B96-A6C4-8C439588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3B4E3405-5CED-46A5-ADC7-8536CE27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63440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Deployment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8B25AD11-C513-47AB-9698-E2972126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663440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Push code = behavior baru</a:t>
            </a:r>
            <a:endParaRPr sz="105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8269DF5F-3E39-4E25-9D7F-DD21E570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663440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Push code != retrain. Model perlu retrain + redeploy</a:t>
            </a:r>
            <a:endParaRPr sz="10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E246DDF4-5F58-44AB-9DA9-7653C64D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0368"/>
            <a:ext cx="1124712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B2F30FE0-1881-41F6-8BFE-97B559CF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0368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902F36D7-A52E-47B5-8D8B-5804F7AA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30368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Performance</a:t>
            </a:r>
            <a:endParaRPr sz="1100"/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64E600D6-0EC5-4D60-8498-7BC47CE2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230368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Latency, throughput</a:t>
            </a:r>
            <a:endParaRPr sz="105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8C6B758-BECE-4550-8988-4C272FB3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5230368"/>
            <a:ext cx="4206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Accuracy, drift score, fairness, calibration</a:t>
            </a:r>
            <a:endParaRPr sz="105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F8E82603-FCA6-45B8-85F9-3618875F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Kunci: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model bisa silent fail - akurasi turun pelan-pelan tanpa error. Tanpa monitoring, tidak ke-detect.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85972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B989AE-0855-4840-B67D-5827E62B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0027B0-7164-4E6A-845A-EEB91DBD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B42741C-1DE5-43A5-8237-A52BAE2D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673a3a7f34a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356645fe44c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EED9832-391B-4FB1-95D4-9AD31885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0DBB6CE-5EF7-42F2-B889-980250AD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4 Failure Modes - Kenapa Model Decay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00817D-F54E-49C5-953E-BB9388BD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Akurasi production turun seiring waktu - bukan model rusak, dunia berubah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7304EB8-03CA-4811-B72A-ADD4C82A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55F08A8-C960-4EDE-B362-D9B5694C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36359e43e45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600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0E13F9F-926C-4093-965E-273E8545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08760"/>
            <a:ext cx="1920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Drift</a:t>
            </a:r>
            <a:endParaRPr sz="14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8F899CD5-DFDD-4A66-B339-68E8F246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Distribusi INPUT berubah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97C4301-7275-4994-933A-C9E05249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9D0C9DB9-F36D-4ED5-B388-01B41359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60320"/>
            <a:ext cx="23317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 demografis berubah (umur, lokasi). Image quality kamera baru beda dari training data.</a:t>
            </a:r>
            <a:endParaRPr sz="10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A2CB58BB-D8E4-4CA8-9C2C-08C00B28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233172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116AE837-067F-4C61-953A-083EDA18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0916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Cara Detect:</a:t>
            </a:r>
            <a:endParaRPr sz="9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BA61C65B-90DF-41B8-8B16-69A08CE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3776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Statistical test (KS test, PSI) bandingkan dist train vs prod</a:t>
            </a:r>
            <a:endParaRPr sz="1000"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41A67154-B0B8-435E-80F1-2D17CE08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6CD321C5-649A-451C-8722-E94BCEF9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7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e1fa6c7764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56432" y="1600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5B534D8C-35D4-43BE-90A4-DE6615AF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508760"/>
            <a:ext cx="1920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Concept Drift</a:t>
            </a:r>
            <a:endParaRPr sz="14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12AACF53-E572-40C4-BEB8-832F02CE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8745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Mapping input -&gt; output berubah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16FA8CD4-C440-4010-8F9E-A157AA94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33172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B13A7091-C59F-4FA0-92CB-F7A81FE0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560320"/>
            <a:ext cx="23317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Fraud pattern berubah (penipu pakai trik baru). Sentiment terhadap brand bergeser.</a:t>
            </a:r>
            <a:endParaRPr sz="1050"/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63EB1E15-F7BE-43FD-A066-2CDBE48D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663440"/>
            <a:ext cx="233172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0D45AA24-CE33-4DA9-B017-F072F44E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470916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Cara Detect:</a:t>
            </a:r>
            <a:endParaRPr sz="9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86F1DE2C-C1CD-4486-B09A-7C71F117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493776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Ground-truth labeling + monitor accuracy over time</a:t>
            </a:r>
            <a:endParaRPr sz="100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FE335215-69B8-4846-A9BB-63A893BA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3CE76DA5-224C-4D75-B212-11B4C33C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8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71b95c92b4b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4" y="1600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89CEC41B-C1A8-432C-9523-352F7AFD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1508760"/>
            <a:ext cx="1920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Training-Serving Skew</a:t>
            </a:r>
            <a:endParaRPr sz="1400"/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1F16778A-817E-4E5E-AD04-EAE2CF3D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8745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Code training != code prediksi</a:t>
            </a:r>
            <a:endParaRPr sz="1000"/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8E90245-5113-474D-8A2D-1215F540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33172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F75236F9-E5E3-4B5C-8818-DA7FBD1A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560320"/>
            <a:ext cx="23317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Preprocessing beda di train (pandas) vs prod (custom JS). Tokenizer beda version.</a:t>
            </a:r>
            <a:endParaRPr sz="1050"/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5DAC015E-3228-481F-9E56-1F75FFE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663440"/>
            <a:ext cx="233172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A1372A60-1895-4389-A740-B1F5C818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70916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Cara Detect:</a:t>
            </a:r>
            <a:endParaRPr sz="900"/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B3FE0447-9AAC-4DCC-BB36-39B176BE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93776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Shared feature pipeline, integration test end-to-end</a:t>
            </a:r>
            <a:endParaRPr sz="1000"/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41CFC687-1DFE-43E4-8B6E-D261C575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2AD6570F-B484-445E-975D-A8784482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9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60509ced240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0576" y="1600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73AF8F65-36BE-462D-9FD1-D219702F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1508760"/>
            <a:ext cx="1920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Infrastructure Failure</a:t>
            </a:r>
            <a:endParaRPr sz="1400"/>
          </a:p>
        </p:txBody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C50D06EC-1A08-4744-9330-900C5060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8745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Bukan masalah ML - tapi sistem</a:t>
            </a:r>
            <a:endParaRPr sz="1000"/>
          </a:p>
        </p:txBody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753BA9D3-6EE8-414E-9620-51824DAB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3172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46" name="Text 38">
            <a:extLst xmlns:a="http://schemas.openxmlformats.org/drawingml/2006/main">
              <a:ext uri="{FF2B5EF4-FFF2-40B4-BE49-F238E27FC236}">
                <a16:creationId xmlns:a16="http://schemas.microsoft.com/office/drawing/2014/main" id="{0F51F859-D49D-44F8-AFF5-8218099A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560320"/>
            <a:ext cx="23317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GPU OOM saat batch besar, network timeout ke feature store, cache stale.</a:t>
            </a:r>
            <a:endParaRPr sz="1050"/>
          </a:p>
        </p:txBody>
      </p:sp>
      <p:sp>
        <p:nvSpPr>
          <p:cNvPr id="47" name="Shape 39">
            <a:extLst xmlns:a="http://schemas.openxmlformats.org/drawingml/2006/main">
              <a:ext uri="{FF2B5EF4-FFF2-40B4-BE49-F238E27FC236}">
                <a16:creationId xmlns:a16="http://schemas.microsoft.com/office/drawing/2014/main" id="{C86859B3-4625-446F-AE65-3C5311ED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663440"/>
            <a:ext cx="233172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8" name="Text 40">
            <a:extLst xmlns:a="http://schemas.openxmlformats.org/drawingml/2006/main">
              <a:ext uri="{FF2B5EF4-FFF2-40B4-BE49-F238E27FC236}">
                <a16:creationId xmlns:a16="http://schemas.microsoft.com/office/drawing/2014/main" id="{3127A171-3732-490F-8C85-DE31A706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470916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Cara Detect:</a:t>
            </a:r>
            <a:endParaRPr sz="900"/>
          </a:p>
        </p:txBody>
      </p:sp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9AD8329F-E353-41FF-8726-4B48D473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493776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Standard observability: logs, metrics, traces, alerting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856135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6E8AD45-C494-44AF-8692-E77C9CD3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7EB36F9-A609-492B-BA1D-CD954B53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9937E6A-739B-4302-9233-4DE77B8B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9E43D3-09F3-490F-89BA-1BB630FF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F43B4EA-5163-4040-AFE7-26CF15C6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E3CA188-336A-4877-9306-1730254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A10F566-C578-4398-A67F-4084C599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ebfd75ea34d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dd46de6e24e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E99CFB4-C549-475F-874E-F3142EE1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024A441-6F6A-4B2D-B6BB-02975BF8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Observability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CEF967B-F6E5-4C91-97AB-7174698C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CC30E9A-1B90-413E-80A0-9297AD76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3 layer pengawasan: sistem, model, business.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938113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883784-31D3-4392-9B8D-065596DA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EBD371-03DB-481F-8FA4-280046B5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48717D-9405-4E3B-9FC8-FDDD5E26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b6ed25c29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943cb8b5848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7C964F5-B39D-47B8-876B-BB951FF9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D8F7FA4-7D09-4E18-8CB0-3EDB6D64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3-Layer Monitoring untuk ML System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4CCCA2C-F729-4D4D-86BE-5C61B8B2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Sistem -&gt; Model -&gt; Business. Tiap layer beda metrik &amp; beda alert.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B80EAC5-786B-46CD-87DA-D7892584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FABB86F-61CF-4602-AEA2-79DBF33F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976CD7A-C0AC-4484-BAA3-C3C0CEEF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6304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System Metrics</a:t>
            </a:r>
            <a:endParaRPr sz="15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02E3BF1-FBF6-4A33-BB83-8ADE82A5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DevOps / SRE</a:t>
            </a:r>
            <a:endParaRPr sz="10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550274D-8DC2-4813-A348-5D2A006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Kesehatan infra yang serve model. Sama seperti web app biasa.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56810BF-80B0-4D3A-81B4-87D49212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Metrik Utama:</a:t>
            </a:r>
            <a:endParaRPr sz="10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7BD13B7-0F03-461C-ADFB-48AB7076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20440"/>
            <a:ext cx="3246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CPU / GPU utilization (%)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Memory (RAM + VRAM)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Latency p50/p95/p99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Throughput (req/s)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Error rate (5xx)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Cost per request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3A08E992-6875-4D5A-BA84-D27BF2B9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65ED65ED-0F9E-4E7B-AC9C-A07ACAC1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406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Alert kalau: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Latency &gt; SLA, error rate &gt; 1%, GPU &gt; 90%</a:t>
            </a:r>
            <a:endParaRPr sz="10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319C686-ACA9-4647-8C55-655B5B11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CA1BDAF4-D68D-48AF-9D46-E5D3612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61FD330-3C58-4488-89FC-6C901ED1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6304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Model Metrics</a:t>
            </a:r>
            <a:endParaRPr sz="15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7DCC2C5-1312-4618-B06F-7A9AACD8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82880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ML Engineer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7DF2FC8C-39B4-445D-AB87-9AACBFAD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3172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Kesehatan model itu sendiri - prediksi &amp; drift.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557DBF1-4295-4185-9C2C-DF46FF69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0040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Metrik Utama:</a:t>
            </a:r>
            <a:endParaRPr sz="10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3E1FB172-6157-4DC9-91CE-32FCC699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0440"/>
            <a:ext cx="3246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Prediction distribution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Input feature drift score (PSI)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Accuracy / F1 (vs ground truth)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Confidence score distribution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Fairness metric (per segment)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Inference time per layer</a:t>
            </a:r>
            <a:endParaRPr sz="10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A4A00C4-BA1D-4A94-8714-0EDFA0EF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9496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13B7482D-6A05-4E75-B59D-F42AC3CE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06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Alert kalau: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Drift score &gt; threshold, accuracy turun 5%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2D875010-F680-4140-A856-7532D6DF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31F0D22D-D112-418B-8D9A-C333F3FE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0FA1781B-17CC-4468-ACA0-C507D91A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6304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Business Metrics</a:t>
            </a:r>
            <a:endParaRPr sz="15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354CFF2-895F-4E64-8167-10151315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Product / Owner</a:t>
            </a:r>
            <a:endParaRPr sz="10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EC3EB0CF-55A5-4D45-A395-48D43A5E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331720"/>
            <a:ext cx="3337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Dampak model ke bisnis - apakah model membawa nilai?</a:t>
            </a:r>
            <a:endParaRPr sz="11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366828F-16A8-4372-AAD0-E84C697E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20040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Metrik Utama:</a:t>
            </a:r>
            <a:endParaRPr sz="10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01A3D6D0-DBE7-4D58-B1F0-E15E2D0E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520440"/>
            <a:ext cx="3246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Conversion rate (rekomendasi)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Customer churn (model retain)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Revenue per user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Click-through rate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 satisfaction (NPS)</a:t>
            </a:r>
            <a:endParaRPr sz="10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Manual override rate</a:t>
            </a:r>
            <a:endParaRPr sz="10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F063CB88-C08E-4F4C-B9AE-0E6A10A1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9496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410690FD-8784-48EF-A704-B79B8764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4406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Alert kalau: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Conversion turun, CSAT &lt; target</a:t>
            </a:r>
            <a:endParaRPr sz="10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4F5C79E2-8FE4-4B29-A872-36639081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Insight: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system metrics SEHAT bukan berarti model GOOD. Model bisa 99% latency OK tapi 50% prediksi salah.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88098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3FCE5B-40DB-4B5F-B907-69D1C33D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771B7C-3494-460C-AE59-663873A5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9A0F31-0774-43DA-ACF2-5134AE19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5678dc90947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61dc9bc914d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743AF20-ED48-465B-BFEC-8EB354FA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5DFA0A9-0AA6-4537-B83D-D8EFBD53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Data Drift vs Concept Drift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C6BE6ED-E37A-4F07-8D7E-1593802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Dua tipe drift yang harus dimonitor - solusinya beda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FE03786-8F16-4801-B15B-E2C16677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6287060-84CC-4484-92CA-8399E196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F916F14-B787-47F5-AF69-912A2A07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Drift (Input Drift)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92C4E36-B630-4A83-B438-6BB7713C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Distribusi P(X) berubah - input feature ke model berbeda dari saat training.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848B382-6EDC-44B9-A76F-DCCCDF7C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05B0A6D-F0F4-464D-A825-163C74CB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49377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 Aplikasi pinjaman: user makin muda (training: rata-rata 35, sekarang: 25).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 Image classifier: kamera HP baru hasilkan resolusi lebih tinggi.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 Sentiment NLP: bahasa slang baru muncul yang model tidak pernah lihat.</a:t>
            </a:r>
            <a:endParaRPr sz="105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843BAC9-0891-4D2F-9C82-7AA0DEE0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Cara Detect (Statistical Test):</a:t>
            </a:r>
            <a:endParaRPr sz="11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8A11155-257B-4370-A0B3-D93B1C84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00600"/>
            <a:ext cx="49377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- KS Test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(Kolmogorov-Smirnov) untuk numeric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- PSI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(Population Stability Index) untuk binned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- Chi-square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untuk categorical feature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- JS Divergence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untuk text/embedding</a:t>
            </a:r>
            <a:endParaRPr sz="10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66B33288-99E8-4583-AD9A-5BA09E69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77E2FA9-CF45-4662-9984-EB1E4A23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99D9E12-6825-48C3-89DF-13BF3B18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Concept Drift (Label Drift)</a:t>
            </a:r>
            <a:endParaRPr sz="14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D4C5E3B-24B2-4CF8-92E4-B86E80EB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120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Mapping P(Y|X) berubah - relasi input ke output berubah, walau X-nya sama.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DA5C627C-E34E-4CB2-B05B-73082C5D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749CA3B-E2FD-4CAE-A1E5-08CED333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63240"/>
            <a:ext cx="48463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 Fraud detection: penipu adopt teknik baru -&gt; pattern lama bukan fraud lagi.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 Recommendation: preferensi user shift (TikTok era - format video pendek).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 COVID 2020: traffic pattern e-commerce flip - 'normal' jadi 'abnormal'.</a:t>
            </a:r>
            <a:endParaRPr sz="105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EB33F2F-5DB4-49FA-9305-65EB14D7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80560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Cara Detect (Need Ground Truth):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6B3CDE7-90EA-4A84-8ABB-9E5E19D1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800600"/>
            <a:ext cx="4846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- Track accuracy/F1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over time (need labels)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- Compare prediction dist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vs actual dist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- Human-in-the-loop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sampling untuk audit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- Confidence drop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- model jadi lebih ragu = signal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65108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D74BA8-A7E7-4D35-B5A2-F0197099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41C1A8-8A91-44D2-AC69-5F0B6F6B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0401653-BBA4-4666-904E-89414D70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8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ab527a9c041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8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76fb65a6e4a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B39711F-EED5-4458-91B5-07BAD620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B7721B8-073F-4C96-8DA3-7395BBA9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Metrik yang Wajib Anda Track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27B6F44-17A6-439A-955C-145E2321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Setiap metrik punya threshold + alert + action plan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82EDE21-18AF-46ED-A187-BE17D135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FA5F7D5-1361-4B6F-841E-764D41C3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AB33392-CE66-4F79-90CA-D08E2999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Latency p99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B024ACF-9B26-4952-8EB9-EA20FE3E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508760"/>
            <a:ext cx="960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</a:t>
            </a:r>
            <a:endParaRPr sz="9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668FCA6-FE32-4BE3-BF66-59AC7D8B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527048"/>
            <a:ext cx="9144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EE5D093D-2B85-46EA-BFBF-B799C01B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52704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FA1DBCD-4295-440A-89BA-8208F092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</a:t>
            </a: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&lt; 200ms</a:t>
            </a:r>
            <a:endParaRPr sz="105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00BAC6B-14BA-4A22-9998-E427EA53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40280"/>
            <a:ext cx="3246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Optimize model (quantize), scale up</a:t>
            </a:r>
            <a:endParaRPr sz="10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8AEE755-57E0-4E5F-BA66-729E55CF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E3CF12-39EB-4F6B-81B1-C5466D01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DDD0EBB-904F-4ACC-8EBA-5502A0C3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0876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Error Rate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EA4EFB0-6973-4D62-92C4-B6910D4F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508760"/>
            <a:ext cx="960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</a:t>
            </a:r>
            <a:endParaRPr sz="9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F9F015A-718D-4BE4-A716-D9FBD09B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27048"/>
            <a:ext cx="9144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C73B72-807D-4615-B561-EA15E2FA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2704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</a:t>
            </a:r>
            <a:endParaRPr sz="9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7D853D6C-0D09-4B95-AFF4-4D5419F3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0240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</a:t>
            </a: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&lt; 0.5%</a:t>
            </a:r>
            <a:endParaRPr sz="105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22B6FB7-D919-4400-AA26-356541C6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0280"/>
            <a:ext cx="3246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Investigate logs, rollback kalau spike</a:t>
            </a:r>
            <a:endParaRPr sz="10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EAB1CA-60B5-4525-9C76-6A9CFBE7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DF07D65-63EB-4FC7-B1F8-F4336250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01E663DF-CA1C-4F9D-92E0-50DF873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50876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GPU Memory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55F3BC10-75C7-4120-A74E-F9A02543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508760"/>
            <a:ext cx="960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</a:t>
            </a:r>
            <a:endParaRPr sz="9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64E235E7-9722-433C-8B57-280AA07B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1527048"/>
            <a:ext cx="9144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EC0C4D77-0F42-44AB-87C9-ECC7B552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152704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</a:t>
            </a:r>
            <a:endParaRPr sz="9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4C4DB43F-7686-47E3-BC0B-FDDE32E9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920240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</a:t>
            </a: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&lt; 80%</a:t>
            </a:r>
            <a:endParaRPr sz="105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569D45FC-D72A-40CE-8890-4272F1B7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240280"/>
            <a:ext cx="3246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Batch size kecil / scale horizontal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9E35A3F2-C037-4004-B97A-B9DEB47E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F0AB9153-B0E2-4570-BB49-40375EA6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EADAA373-150C-4003-B21C-C54B7C25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Prediction Dist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5E4B2117-EC21-49CC-9FD4-12C052B4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063240"/>
            <a:ext cx="960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  <a:endParaRPr sz="9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11B955E7-D24C-454B-90B4-B9A1A6FF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081528"/>
            <a:ext cx="9144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FC564DD-CD32-4630-904B-3DC5506E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08152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  <a:endParaRPr sz="9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AE130332-6381-44A2-980F-F79FA127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</a:t>
            </a: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Stable</a:t>
            </a:r>
            <a:endParaRPr sz="105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74366AEF-EFE9-400F-A32E-3218238B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3246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Investigate drift, retrain model</a:t>
            </a:r>
            <a:endParaRPr sz="100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58F3E6C7-2464-4358-86BE-F8EE3B7A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718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95D9C2E1-B5C2-4107-BC29-CFCD1DAE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7180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606E7021-F8BE-4094-8D5C-1297FBF8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324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Drift Score (PSI)</a:t>
            </a:r>
            <a:endParaRPr sz="13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84090E5F-C5D6-4232-B427-CED86219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063240"/>
            <a:ext cx="960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  <a:endParaRPr sz="900"/>
          </a:p>
        </p:txBody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CC19DF9A-7002-42A4-9AC2-7823138A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81528"/>
            <a:ext cx="9144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D742CA63-3221-4EFC-8593-A3331F92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8152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  <a:endParaRPr sz="9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F2F02B07-04A6-4AA9-B021-980A600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4720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</a:t>
            </a: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&lt; 0.2</a:t>
            </a:r>
            <a:endParaRPr sz="105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A9ECC4EB-58FD-42B9-8474-F6AC413C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4760"/>
            <a:ext cx="3246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Retrain dengan data baru</a:t>
            </a:r>
            <a:endParaRPr sz="1000"/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147F15B-2BE2-41BD-BD1F-E17F0044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9718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37BAE512-0500-4DE1-B87C-4F408361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97180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1F74ADAF-8268-47F3-8E4E-1F2224B5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06324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Accuracy / F1</a:t>
            </a:r>
            <a:endParaRPr sz="1300"/>
          </a:p>
        </p:txBody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A8FE9D31-FD3F-451D-A2DE-0CE8EB41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63240"/>
            <a:ext cx="960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  <a:endParaRPr sz="900"/>
          </a:p>
        </p:txBody>
      </p:sp>
      <p:sp>
        <p:nvSpPr>
          <p:cNvPr id="54" name="Shape 50">
            <a:extLst xmlns:a="http://schemas.openxmlformats.org/drawingml/2006/main">
              <a:ext uri="{FF2B5EF4-FFF2-40B4-BE49-F238E27FC236}">
                <a16:creationId xmlns:a16="http://schemas.microsoft.com/office/drawing/2014/main" id="{CAA9FB5E-5FE6-48AB-9DF2-F4005F54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3081528"/>
            <a:ext cx="9144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FF460F65-B2D9-44E9-9BBB-CD3877E6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308152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  <a:endParaRPr sz="900"/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A95CC74C-7B52-4B0A-909E-3FD3858F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474720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</a:t>
            </a: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Stable</a:t>
            </a:r>
            <a:endParaRPr sz="1050"/>
          </a:p>
        </p:txBody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61E22D52-28F9-42FC-8FEF-C4CC96FE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794760"/>
            <a:ext cx="3246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Retrain, atau ganti model arsitektur</a:t>
            </a:r>
            <a:endParaRPr sz="1000"/>
          </a:p>
        </p:txBody>
      </p:sp>
      <p:sp>
        <p:nvSpPr>
          <p:cNvPr id="58" name="Shape 54">
            <a:extLst xmlns:a="http://schemas.openxmlformats.org/drawingml/2006/main">
              <a:ext uri="{FF2B5EF4-FFF2-40B4-BE49-F238E27FC236}">
                <a16:creationId xmlns:a16="http://schemas.microsoft.com/office/drawing/2014/main" id="{238484D5-683F-49B0-B056-B46C2489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9" name="Shape 55">
            <a:extLst xmlns:a="http://schemas.openxmlformats.org/drawingml/2006/main">
              <a:ext uri="{FF2B5EF4-FFF2-40B4-BE49-F238E27FC236}">
                <a16:creationId xmlns:a16="http://schemas.microsoft.com/office/drawing/2014/main" id="{C44C2318-2756-404F-86D9-71DEA467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0" name="Text 56">
            <a:extLst xmlns:a="http://schemas.openxmlformats.org/drawingml/2006/main">
              <a:ext uri="{FF2B5EF4-FFF2-40B4-BE49-F238E27FC236}">
                <a16:creationId xmlns:a16="http://schemas.microsoft.com/office/drawing/2014/main" id="{E786B3F4-DEA0-4195-B1BA-1D892153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Confidence Avg</a:t>
            </a:r>
            <a:endParaRPr sz="1300"/>
          </a:p>
        </p:txBody>
      </p:sp>
      <p:sp>
        <p:nvSpPr>
          <p:cNvPr id="61" name="Text 57">
            <a:extLst xmlns:a="http://schemas.openxmlformats.org/drawingml/2006/main">
              <a:ext uri="{FF2B5EF4-FFF2-40B4-BE49-F238E27FC236}">
                <a16:creationId xmlns:a16="http://schemas.microsoft.com/office/drawing/2014/main" id="{494CC195-1A6F-4137-A3AA-BBB6E003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617720"/>
            <a:ext cx="960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  <a:endParaRPr sz="900"/>
          </a:p>
        </p:txBody>
      </p:sp>
      <p:sp>
        <p:nvSpPr>
          <p:cNvPr id="62" name="Shape 58">
            <a:extLst xmlns:a="http://schemas.openxmlformats.org/drawingml/2006/main">
              <a:ext uri="{FF2B5EF4-FFF2-40B4-BE49-F238E27FC236}">
                <a16:creationId xmlns:a16="http://schemas.microsoft.com/office/drawing/2014/main" id="{2FB50509-480C-40E1-8509-683E55D3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36008"/>
            <a:ext cx="9144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1360F794-A229-48C0-9C33-5E088471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3600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  <a:endParaRPr sz="900"/>
          </a:p>
        </p:txBody>
      </p:sp>
      <p:sp>
        <p:nvSpPr>
          <p:cNvPr id="64" name="Text 60">
            <a:extLst xmlns:a="http://schemas.openxmlformats.org/drawingml/2006/main">
              <a:ext uri="{FF2B5EF4-FFF2-40B4-BE49-F238E27FC236}">
                <a16:creationId xmlns:a16="http://schemas.microsoft.com/office/drawing/2014/main" id="{F476AB4E-260E-406C-AFBA-54BF60AE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</a:t>
            </a: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Stable</a:t>
            </a:r>
            <a:endParaRPr sz="1050"/>
          </a:p>
        </p:txBody>
      </p:sp>
      <p:sp>
        <p:nvSpPr>
          <p:cNvPr id="65" name="Text 61">
            <a:extLst xmlns:a="http://schemas.openxmlformats.org/drawingml/2006/main">
              <a:ext uri="{FF2B5EF4-FFF2-40B4-BE49-F238E27FC236}">
                <a16:creationId xmlns:a16="http://schemas.microsoft.com/office/drawing/2014/main" id="{F9C7F84F-4B0A-4DB7-BD5F-6D34376D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3246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Drop = OOD input, escalate to human</a:t>
            </a:r>
            <a:endParaRPr sz="1000"/>
          </a:p>
        </p:txBody>
      </p:sp>
      <p:sp>
        <p:nvSpPr>
          <p:cNvPr id="66" name="Shape 62">
            <a:extLst xmlns:a="http://schemas.openxmlformats.org/drawingml/2006/main">
              <a:ext uri="{FF2B5EF4-FFF2-40B4-BE49-F238E27FC236}">
                <a16:creationId xmlns:a16="http://schemas.microsoft.com/office/drawing/2014/main" id="{B52D1FEF-1AD7-461A-BE45-E290512F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5262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7" name="Shape 63">
            <a:extLst xmlns:a="http://schemas.openxmlformats.org/drawingml/2006/main">
              <a:ext uri="{FF2B5EF4-FFF2-40B4-BE49-F238E27FC236}">
                <a16:creationId xmlns:a16="http://schemas.microsoft.com/office/drawing/2014/main" id="{C8B80549-EF83-4543-86EF-24544091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52628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68" name="Text 64">
            <a:extLst xmlns:a="http://schemas.openxmlformats.org/drawingml/2006/main">
              <a:ext uri="{FF2B5EF4-FFF2-40B4-BE49-F238E27FC236}">
                <a16:creationId xmlns:a16="http://schemas.microsoft.com/office/drawing/2014/main" id="{192CE1F6-42D7-4340-9598-5A1E82CE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77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Conversion Rate</a:t>
            </a:r>
            <a:endParaRPr sz="1300"/>
          </a:p>
        </p:txBody>
      </p:sp>
      <p:sp>
        <p:nvSpPr>
          <p:cNvPr id="69" name="Text 65">
            <a:extLst xmlns:a="http://schemas.openxmlformats.org/drawingml/2006/main">
              <a:ext uri="{FF2B5EF4-FFF2-40B4-BE49-F238E27FC236}">
                <a16:creationId xmlns:a16="http://schemas.microsoft.com/office/drawing/2014/main" id="{B0EB5760-336E-45C2-A39D-D162E12D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617720"/>
            <a:ext cx="960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</a:t>
            </a:r>
            <a:endParaRPr sz="900"/>
          </a:p>
        </p:txBody>
      </p:sp>
      <p:sp>
        <p:nvSpPr>
          <p:cNvPr id="70" name="Shape 66">
            <a:extLst xmlns:a="http://schemas.openxmlformats.org/drawingml/2006/main">
              <a:ext uri="{FF2B5EF4-FFF2-40B4-BE49-F238E27FC236}">
                <a16:creationId xmlns:a16="http://schemas.microsoft.com/office/drawing/2014/main" id="{34B385FF-0248-4446-8898-2003260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636008"/>
            <a:ext cx="9144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71" name="Text 67">
            <a:extLst xmlns:a="http://schemas.openxmlformats.org/drawingml/2006/main">
              <a:ext uri="{FF2B5EF4-FFF2-40B4-BE49-F238E27FC236}">
                <a16:creationId xmlns:a16="http://schemas.microsoft.com/office/drawing/2014/main" id="{898421C9-B099-4B92-9C4D-4B9A692A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63600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</a:t>
            </a:r>
            <a:endParaRPr sz="900"/>
          </a:p>
        </p:txBody>
      </p:sp>
      <p:sp>
        <p:nvSpPr>
          <p:cNvPr id="72" name="Text 68">
            <a:extLst xmlns:a="http://schemas.openxmlformats.org/drawingml/2006/main">
              <a:ext uri="{FF2B5EF4-FFF2-40B4-BE49-F238E27FC236}">
                <a16:creationId xmlns:a16="http://schemas.microsoft.com/office/drawing/2014/main" id="{389D67C9-C41A-4CE7-95C5-FFD69FF0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</a:t>
            </a: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≥ Baseline</a:t>
            </a:r>
            <a:endParaRPr sz="1050"/>
          </a:p>
        </p:txBody>
      </p:sp>
      <p:sp>
        <p:nvSpPr>
          <p:cNvPr id="73" name="Text 69">
            <a:extLst xmlns:a="http://schemas.openxmlformats.org/drawingml/2006/main">
              <a:ext uri="{FF2B5EF4-FFF2-40B4-BE49-F238E27FC236}">
                <a16:creationId xmlns:a16="http://schemas.microsoft.com/office/drawing/2014/main" id="{4BBBC9DA-D8C6-4340-AB43-120CBCB0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9240"/>
            <a:ext cx="3246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A/B test model lain, ML bukan satu-satunya solusi</a:t>
            </a:r>
            <a:endParaRPr sz="1000"/>
          </a:p>
        </p:txBody>
      </p:sp>
      <p:sp>
        <p:nvSpPr>
          <p:cNvPr id="74" name="Shape 70">
            <a:extLst xmlns:a="http://schemas.openxmlformats.org/drawingml/2006/main">
              <a:ext uri="{FF2B5EF4-FFF2-40B4-BE49-F238E27FC236}">
                <a16:creationId xmlns:a16="http://schemas.microsoft.com/office/drawing/2014/main" id="{BD7C29A9-C6C3-4D0B-9CCC-9BF6649B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5262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75" name="Shape 71">
            <a:extLst xmlns:a="http://schemas.openxmlformats.org/drawingml/2006/main">
              <a:ext uri="{FF2B5EF4-FFF2-40B4-BE49-F238E27FC236}">
                <a16:creationId xmlns:a16="http://schemas.microsoft.com/office/drawing/2014/main" id="{4C162B4B-C305-462A-8CFB-B04E9D74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52628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76" name="Text 72">
            <a:extLst xmlns:a="http://schemas.openxmlformats.org/drawingml/2006/main">
              <a:ext uri="{FF2B5EF4-FFF2-40B4-BE49-F238E27FC236}">
                <a16:creationId xmlns:a16="http://schemas.microsoft.com/office/drawing/2014/main" id="{59A55497-944B-4240-B20C-546E991F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6177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Manual Override %</a:t>
            </a:r>
            <a:endParaRPr sz="1300"/>
          </a:p>
        </p:txBody>
      </p:sp>
      <p:sp>
        <p:nvSpPr>
          <p:cNvPr id="77" name="Text 73">
            <a:extLst xmlns:a="http://schemas.openxmlformats.org/drawingml/2006/main">
              <a:ext uri="{FF2B5EF4-FFF2-40B4-BE49-F238E27FC236}">
                <a16:creationId xmlns:a16="http://schemas.microsoft.com/office/drawing/2014/main" id="{18ED0D59-8A58-436D-B436-2FC26AB7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617720"/>
            <a:ext cx="960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</a:t>
            </a:r>
            <a:endParaRPr sz="900"/>
          </a:p>
        </p:txBody>
      </p:sp>
      <p:sp>
        <p:nvSpPr>
          <p:cNvPr id="78" name="Shape 74">
            <a:extLst xmlns:a="http://schemas.openxmlformats.org/drawingml/2006/main">
              <a:ext uri="{FF2B5EF4-FFF2-40B4-BE49-F238E27FC236}">
                <a16:creationId xmlns:a16="http://schemas.microsoft.com/office/drawing/2014/main" id="{45EC781C-3207-478B-962A-16118509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636008"/>
            <a:ext cx="91440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79" name="Text 75">
            <a:extLst xmlns:a="http://schemas.openxmlformats.org/drawingml/2006/main">
              <a:ext uri="{FF2B5EF4-FFF2-40B4-BE49-F238E27FC236}">
                <a16:creationId xmlns:a16="http://schemas.microsoft.com/office/drawing/2014/main" id="{D088124F-AE23-4F58-A5CF-879F2007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63600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</a:t>
            </a:r>
            <a:endParaRPr sz="900"/>
          </a:p>
        </p:txBody>
      </p:sp>
      <p:sp>
        <p:nvSpPr>
          <p:cNvPr id="80" name="Text 76">
            <a:extLst xmlns:a="http://schemas.openxmlformats.org/drawingml/2006/main">
              <a:ext uri="{FF2B5EF4-FFF2-40B4-BE49-F238E27FC236}">
                <a16:creationId xmlns:a16="http://schemas.microsoft.com/office/drawing/2014/main" id="{E58EE3F4-097E-4D31-A963-43A541EE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029200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Target: </a:t>
            </a: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&lt; 5%</a:t>
            </a:r>
            <a:endParaRPr sz="1050"/>
          </a:p>
        </p:txBody>
      </p:sp>
      <p:sp>
        <p:nvSpPr>
          <p:cNvPr id="81" name="Text 77">
            <a:extLst xmlns:a="http://schemas.openxmlformats.org/drawingml/2006/main">
              <a:ext uri="{FF2B5EF4-FFF2-40B4-BE49-F238E27FC236}">
                <a16:creationId xmlns:a16="http://schemas.microsoft.com/office/drawing/2014/main" id="{0C9D4FD9-F2E2-456A-853C-AC09C609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49240"/>
            <a:ext cx="3246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Action: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 tidak percaya model - retrain + UX review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986749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A0F24F-CCF0-43BD-9DF4-456E938E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B4D453-DF87-421C-AF23-71A8022A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DEBE9C5-7FE0-4907-933B-0CC4F71B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afab259da49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544992224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5D35BCA-CFC7-4F4B-BBA1-1D46A5A0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FF6675B-C1A2-4296-94DF-A4582E24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Monitoring Tools Landscape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EB9D9A8-4913-4337-A81F-F77E4C7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Pilih sesuai stage: open-source untuk belajar, managed untuk production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7E6BC7D-3D8A-43D4-86C4-7B9F060A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A22C67F-53EC-4EC9-A316-6895D4AF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22C"/>
          </a:solidFill>
          <a:ln xmlns:a="http://schemas.openxmlformats.org/drawingml/2006/main" w="12700">
            <a:solidFill>
              <a:srgbClr val="E6522C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34E83D9-9D39-4E4D-B748-0A15A7BB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08760"/>
            <a:ext cx="2240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Prometheus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 Grafana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67C4ADC-C091-4021-8255-F67E9857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4592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source</a:t>
            </a:r>
            <a:endParaRPr sz="9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A0F51EF-53D4-4032-8BFE-3F7437D4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Time-series DB + dashboard. Standard untuk system metrics. Setup sendiri.</a:t>
            </a:r>
            <a:endParaRPr sz="105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6A9D60B-9783-4F77-B4FB-ECB6F5D2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AA3182E-DB07-4C96-8FBA-67B12D6C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6440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03DEED-24B8-4435-9580-B5AC4C84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47288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System monitoring</a:t>
            </a:r>
            <a:endParaRPr sz="11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23C1A318-0FEB-4815-BEE3-682360C4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01A0F520-C5C9-4F02-9BE1-C6707359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00"/>
          </a:solidFill>
          <a:ln xmlns:a="http://schemas.openxmlformats.org/drawingml/2006/main" w="12700">
            <a:solidFill>
              <a:srgbClr val="FFBE00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5B2236-58A3-42D8-B12B-ABF7B80C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08760"/>
            <a:ext cx="2240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Weights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Biases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D4DD7942-96A7-4676-A1DA-4A871EC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4592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Cek paket</a:t>
            </a:r>
            <a:endParaRPr sz="9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DE994DD-2A62-48CB-9B39-C03FD85E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860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 experiment tracking + model registry + dashboard. Track training run.</a:t>
            </a:r>
            <a:endParaRPr sz="10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41731A5A-73B0-44BE-9324-54877E19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0040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6EC1CAE0-B6DD-41EC-8E40-09F2ED2A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6440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34389B2-2142-4AA3-80EE-A0FEF999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447288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Training experiments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541ABD24-7C19-4343-8EAE-4353A4EC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9680808-933A-4446-AD7C-D3E773B4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94E2"/>
          </a:solidFill>
          <a:ln xmlns:a="http://schemas.openxmlformats.org/drawingml/2006/main" w="12700">
            <a:solidFill>
              <a:srgbClr val="0194E2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13F88F97-5B3D-49A1-9946-CAFB56F8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508760"/>
            <a:ext cx="2240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MLflow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5E233623-43D3-4DA0-909D-74634A55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164592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source</a:t>
            </a:r>
            <a:endParaRPr sz="9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D0FEDEB-D5F7-41E1-A384-24D751A4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860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Open-source tracking + model registry + deployment. Cocok self-host.</a:t>
            </a:r>
            <a:endParaRPr sz="105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D6EA14F-5ECB-461B-A408-D063E269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20040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0D9EC0C-BAE0-4A59-A0E9-F53270EA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26440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72B2AC5-C68D-4B7E-84E7-E036A44F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447288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Model lifecycle</a:t>
            </a:r>
            <a:endParaRPr sz="11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558178E-8A62-4ED0-B2AE-0F9E5756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2089B502-F829-4B5C-955F-10DACAA1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0F69"/>
          </a:solidFill>
          <a:ln xmlns:a="http://schemas.openxmlformats.org/drawingml/2006/main" w="12700">
            <a:solidFill>
              <a:srgbClr val="ED0F69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0BD6DB43-F363-40B3-9752-4330C064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86200"/>
            <a:ext cx="2240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Evidently AI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AC85F750-55FE-4FAA-AE48-9B2A63F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2336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OSS + Cloud</a:t>
            </a:r>
            <a:endParaRPr sz="9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54F07229-C156-4313-9E52-0B6A9388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Drift detection + data quality reports. Cocok untuk model monitoring.</a:t>
            </a:r>
            <a:endParaRPr sz="105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A203F771-B3A2-4518-84C0-A37313C1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784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CEB2DF8-CB3F-4841-91F4-FED37A91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4184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EE330950-011B-4A64-999C-E1A788FE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24728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Drift + quality</a:t>
            </a:r>
            <a:endParaRPr sz="110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78B23B6E-5C99-409B-B6BF-11C900F0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87F23D81-FF69-4F8C-AADC-215D195F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CED5"/>
          </a:solidFill>
          <a:ln xmlns:a="http://schemas.openxmlformats.org/drawingml/2006/main" w="12700">
            <a:solidFill>
              <a:srgbClr val="5DCED5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B9ABDD09-FF04-4635-8D8C-70D64703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886200"/>
            <a:ext cx="2240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Arize</a:t>
            </a:r>
            <a:endParaRPr sz="13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8727A2E0-30E0-4011-A6AC-9DDB720F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02336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Paid</a:t>
            </a:r>
            <a:endParaRPr sz="9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71B72EE5-B09D-4214-B517-6D3AF5D1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66344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Commercial ML observability. Drift, fairness, root cause analysis.</a:t>
            </a:r>
            <a:endParaRPr sz="1050"/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99991155-6B6C-43E9-9B73-9C01EA2D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57784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72AFFB83-9DE2-4DD2-AC3D-F43A855F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64184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B67BFBD6-BD75-4C86-AAB6-F86C2C7F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824728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Enterprise ML</a:t>
            </a:r>
            <a:endParaRPr sz="1100"/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5EC3CF26-8DAB-4C3A-978F-FAC5C24C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EF550791-DBF4-4299-82D9-50A7DDF0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2CA6"/>
          </a:solidFill>
          <a:ln xmlns:a="http://schemas.openxmlformats.org/drawingml/2006/main" w="12700">
            <a:solidFill>
              <a:srgbClr val="632CA6"/>
            </a:solidFill>
            <a:prstDash val="solid"/>
          </a:ln>
        </p:spPr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314AA5D0-D601-4D0F-BFDE-22682E23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86200"/>
            <a:ext cx="2240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Datadog</a:t>
            </a:r>
            <a:endParaRPr sz="1300"/>
          </a:p>
        </p:txBody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A26B7C9E-D35D-4947-AEAC-D9C93C07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4023360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Paid</a:t>
            </a:r>
            <a:endParaRPr sz="900"/>
          </a:p>
        </p:txBody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D4C203DE-AF87-401F-8F98-0EE949A2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66344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Full-stack observability + ML monitoring add-on. APM + logs + metrics.</a:t>
            </a:r>
            <a:endParaRPr sz="1050"/>
          </a:p>
        </p:txBody>
      </p:sp>
      <p:sp>
        <p:nvSpPr>
          <p:cNvPr id="55" name="Shape 51">
            <a:extLst xmlns:a="http://schemas.openxmlformats.org/drawingml/2006/main">
              <a:ext uri="{FF2B5EF4-FFF2-40B4-BE49-F238E27FC236}">
                <a16:creationId xmlns:a16="http://schemas.microsoft.com/office/drawing/2014/main" id="{8476414E-5E1F-4E59-912F-08D11560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577840"/>
            <a:ext cx="3337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367609F6-DF42-4508-BE45-CBDBE596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641848"/>
            <a:ext cx="3337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11E6D5F7-4A1E-45F3-AC8C-C9F792A1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824728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Already on Datadog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481246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389A229-4571-4B94-8B30-60B05909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F852020-ED23-48BD-BE0F-FE171C3E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CCB1DD4-1492-4454-A199-58A7B74B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BD5389A-B578-46F3-AE15-F3F6DD45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CC17BDF-9A0E-4210-A641-5DEB3564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B5DF01E-D8ED-492B-BAE9-A741A3AA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7735EA4-E25A-4AA5-9FA8-09737285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2faeaf62449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60353559545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D913A64-109D-4435-9259-8B1EF2AE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591D0FE-808C-42BF-B7C4-7EE13471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Deployment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Strategies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FDE7EA9-F368-4DA9-AA96-9D904F79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3F3D0A0-7A29-4A41-9C98-15FA7199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Bagaimana ganti model lama dengan baru tanpa banting user.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0137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2BE347-0851-4DDE-AAE6-512B634A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BE9E61-A464-458C-B5D6-791A9807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A8A0A5A-6AA1-4B2A-9644-D7D7CCA1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ad59364c04a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a38fbb9834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124EBC2-47B5-4441-B10C-277956F9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83D3E8E-F362-4218-99A4-409FAA54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4 Deployment Strategies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E739152-8089-4D41-A826-255CCBC6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Rilis model baru dengan risiko terkontrol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A258C29-2927-478E-A85C-431DAC2C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BB4F36F-FBEE-4D27-B805-8E96A817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6CEC966-0F4B-4D13-BB78-9856EC34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0876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Recreate</a:t>
            </a:r>
            <a:endParaRPr sz="18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13D363F-1E66-492F-B553-909D4508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Risk: TINGGI</a:t>
            </a:r>
            <a:endParaRPr sz="10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17C0D54-590F-46D2-9E8B-673BA501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2331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Stop versi lama, deploy versi baru. Downtime ada.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0F1F5EB-CFE2-47D4-BD71-4BE03622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233172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6415091-8EDF-417F-BFA1-24A9C058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Flow:</a:t>
            </a:r>
            <a:endParaRPr sz="9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AC1EF54E-22C4-4EC0-AAEE-963D6675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69080"/>
            <a:ext cx="2148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100% old -&gt; [DOWN] -&gt; 100% new</a:t>
            </a:r>
            <a:endParaRPr sz="10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F3DE265-FD2A-427A-BE6B-2644632C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20640"/>
            <a:ext cx="23317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C3D36185-B49B-4923-BD72-12ED4E16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6636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Demo, dev, non-critical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5FA407C9-80E0-4ECA-9108-5F18CB0A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DD971C7F-95D7-43FB-9BC5-91F32406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4D34984-7023-4E9C-A5D2-A9ADE12B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50876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Blue-Green</a:t>
            </a:r>
            <a:endParaRPr sz="18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AA282F8-0BB1-4C2A-9854-DFA8A911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8745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Risk: SEDANG</a:t>
            </a:r>
            <a:endParaRPr sz="10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B6CC46C-2EA5-48A1-9E8B-E46D6A8E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331720"/>
            <a:ext cx="2331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2 environment paralel. Switch traffic instan dari blue ke green.</a:t>
            </a:r>
            <a:endParaRPr sz="11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4D6BA82B-E19D-4E05-9207-CB3C3DCA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749040"/>
            <a:ext cx="233172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142C8F4-AF9D-43C9-B877-0A1BE7CA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79476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Flow:</a:t>
            </a:r>
            <a:endParaRPr sz="9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C95BF06-F35E-4756-AC36-C61A02DA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4069080"/>
            <a:ext cx="2148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100% blue || green ready -&gt; switch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08F10CA-9D28-4CBF-8D56-083E26DD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120640"/>
            <a:ext cx="23317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D6361605-2168-4DA2-B6B8-ECFBF60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516636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Standard production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02AD1FF-71C8-4DE6-A56D-588C9511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90CDD182-D66B-4508-BBB2-409BA660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A031997C-8913-4744-830B-B3EF15B1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50876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Canary</a:t>
            </a:r>
            <a:endParaRPr sz="18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B0466441-2E87-407D-868E-BF363BB5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8745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Risk: RENDAH</a:t>
            </a:r>
            <a:endParaRPr sz="10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7B21EC9-52D0-466E-AB2F-062E746A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331720"/>
            <a:ext cx="2331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Rilis ke 5% user dulu, monitor, kalau OK gradual ke 100%.</a:t>
            </a:r>
            <a:endParaRPr sz="11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02B799BE-C1B5-4144-A819-324C0E25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749040"/>
            <a:ext cx="233172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3145BD67-ABCB-4297-B93A-28A42281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79476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Flow:</a:t>
            </a:r>
            <a:endParaRPr sz="9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E784D27A-17D6-4AD4-954F-569BE86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069080"/>
            <a:ext cx="2148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95% v1 + 5% v2 -&gt; 50/50 -&gt; 0/100</a:t>
            </a:r>
            <a:endParaRPr sz="10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D6C0FB70-179B-4E74-861F-32252B95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120640"/>
            <a:ext cx="23317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8A1B7444-5C5F-4447-B164-795E8F7B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516636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 hati-hati</a:t>
            </a:r>
            <a:endParaRPr sz="105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59DFDDD8-82E8-4F7A-8209-CD860945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38EBABCA-05AF-4F78-9D9D-AE84F0AC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A6B20CF-A8FC-4DC2-BE74-A6B43A9F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50876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Shadow</a:t>
            </a:r>
            <a:endParaRPr sz="18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E106BD8C-CF76-4CFD-96C4-179CBD9A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8745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Risk: PALING RENDAH</a:t>
            </a:r>
            <a:endParaRPr sz="10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E10982E9-2825-46C0-86FD-E67C3400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31720"/>
            <a:ext cx="2331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Model baru terima traffic tapi output di-discard. Compare offline.</a:t>
            </a:r>
            <a:endParaRPr sz="1100"/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1138582D-607E-45DB-B15C-F1968A8A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749040"/>
            <a:ext cx="233172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ADC5F0F6-3AF6-43D3-AC21-8DFE512C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379476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Flow:</a:t>
            </a:r>
            <a:endParaRPr sz="900"/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0C38FEAA-3A79-4D2A-B9E6-71D27E7D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4069080"/>
            <a:ext cx="2148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100% v1 (user) + mirror -&gt; v2 (logs only)</a:t>
            </a:r>
            <a:endParaRPr sz="1000"/>
          </a:p>
        </p:txBody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A06AE735-72AF-47F6-8958-4BA1A039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5120640"/>
            <a:ext cx="23317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34BA595D-4E97-4C38-83E4-CCEE8917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16636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Validasi sebelum prod</a:t>
            </a:r>
            <a:endParaRPr sz="105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D09532AB-0CFC-4788-A3BB-9E0B50CB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Untuk ML: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Shadow + Canary kombinasi paling aman - validate offline dulu, baru gradual rollout.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017364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0121D0-A2A0-4032-B0C4-E6A17AA4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140A7C-9FB3-4DC4-9B63-B303498B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45A711E-DDA8-4453-90D7-39EDABFE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eb4076d7b4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7e3f0cd5b4c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8EC6195-A428-405E-8DFC-32E39D0E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F865DDC-D0C7-4025-AB6D-1526588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A/B Testing untuk Model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34CDFCF-522F-4F78-936E-1DBE9F4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Bukan cuma 'mana yang accurate' - tapi mana yang business impact lebih bagus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FBD4116-7BDD-489D-BC75-420CEF55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D1BB662-CD80-45CF-851B-B4E51CF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Mistake umum: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A akurasi 95%, model B 92%. Pick A? BELUM TENTU.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Mungkin B lebih cepat (lower latency = better UX), atau bias-nya lebih sedikit, atau rekomendasinya lebih variatif.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C3CA627-C4C9-4AD0-AADC-4B525A00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Setup A/B Test untuk ML Model</a:t>
            </a:r>
            <a:endParaRPr sz="1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054F555-7AB9-41E2-A453-12965BC3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36576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F625E00-7575-4B75-8391-333C0830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63573E8-EFFE-4AFF-9D60-228AB88F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8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2E1DC580-903B-4990-84A7-A42C2384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06324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Define Hypothesis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E9B6B85-D5FF-425A-AE79-FC174B4F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Tidak cuma 'B lebih bagus'. Spesifik: 'Model B akan naikkan CTR &gt; 2%'.</a:t>
            </a:r>
            <a:endParaRPr sz="10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D8C9586-CCAD-4508-863F-F1C78EE0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26080"/>
            <a:ext cx="36576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E1B212E-AA26-408D-8506-09E11759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108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07D2615-2A2B-4577-B8EF-36B09A92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10896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8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B9FA0721-8D59-4D7E-8B64-75DFE4B5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6324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Sample Size Calc</a:t>
            </a:r>
            <a:endParaRPr sz="13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6766E57B-7822-4C5C-8A55-7DBC3C62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61188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power analysis - berapa user butuh untuk detect significant change (alpha=0.05).</a:t>
            </a:r>
            <a:endParaRPr sz="10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5BF51A4B-E906-4ED1-9F1C-55FD4B0F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926080"/>
            <a:ext cx="36576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0493EC2F-DAEC-42E6-B06E-7953F76C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108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3F31DE-6F83-4737-886F-E80E6480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10896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8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2F4ECBDE-90BD-4830-AC7B-735710BB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324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Random Assignment</a:t>
            </a:r>
            <a:endParaRPr sz="13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1E9E3D5E-3C3D-4B2F-B38E-4B7A3A0C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61188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Hash user_id -&gt; bucket A (50%) atau B (50%). Konsisten supaya user tidak switch.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2E8B5E21-B814-40D2-8AF3-56C50781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36576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322E1A9A-52F4-4CC3-865B-3D61540D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006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25CFACD7-6D99-4CAD-ABDE-ECBAD10C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0060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8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1DD7C30-C0E4-4D07-BCCB-1FE45C8C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75488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Track Metrik</a:t>
            </a:r>
            <a:endParaRPr sz="13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EAFE4EA4-6AA8-416E-A6D9-AFF5B03D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Primary (CTR), guardrail (latency, error), business (revenue, retention).</a:t>
            </a:r>
            <a:endParaRPr sz="10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F2A5A37F-FB07-43DB-8AFD-55FABEF7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617720"/>
            <a:ext cx="36576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F5F0F51-5237-4410-9D12-BBF04CC2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8006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9D0E9B68-FA1C-43C4-A3BB-12510FB5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80060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8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4ED27995-9B80-46AD-94FC-BC7C46EE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75488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Statistical Test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424139D8-9595-44BD-9439-77BBF744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0352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T-test atau chi-square untuk significance. Tunggu sample cukup.</a:t>
            </a:r>
            <a:endParaRPr sz="10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89346F52-EC74-415C-85ED-B31A6C9B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617720"/>
            <a:ext cx="36576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81BFBBA1-42CA-4E4E-850D-91440686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8006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3C16B8EA-7126-4CDF-8FEC-62F00351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80060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8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D5AFEB00-1A94-414E-B274-83386269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5488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Decision</a:t>
            </a:r>
            <a:endParaRPr sz="13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4BE578C9-2A67-49A0-9EAB-FB8695EF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3291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Ship B kalau primary signifikan + guardrail OK. Kill kalau hurt user.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721354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D54C69F-1E25-4031-93B0-B940EE2C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EDBCC6C-772A-4A5B-B42D-46CA52F7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105A0F7-CB4B-4432-A14E-3602CA18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552367D-DED2-4718-89C3-88544EEC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6457C3B-67A2-4C84-93BB-FDF7DC32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7A66AE3-2394-4F85-8DEF-CF3817E5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D8E9242-68A0-474A-8CA0-895C6568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6c6a9279940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7812f4abc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4B06CE6-398F-4A6C-ACD4-F73298B1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120C967-AA7F-4E29-8376-85165825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MLOps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Pipeline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3D8A326-BA2E-4457-A7D0-987BFC97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F9245E4-B602-4EA5-A7CD-7EF20F83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CI/CD untuk ML - automation dari data ke production.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770953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901100-0DB6-4A36-921F-34E8BC8C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7063D6A-19DA-4A3F-A93E-6CED3DBD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B50FABF-FA36-44B2-BF5A-DBDCD0AF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d18f27b184b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bc178f85046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94E2B32-E9A7-4706-9830-8D51276A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A997D25-8785-4004-8D8A-36D299D2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CI/CD untuk ML - Beda dari Software CI/CD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30642CC-650D-4E8E-87CC-1C52CAE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ML pipeline = data + code + model. Trigger juga beda.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4421EA3-8CEE-4E1A-94E7-B841B17B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DEF3454-F047-4B18-B3AD-7B4D650D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Insight: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trigger ML pipeline bukan cuma 'code push'. Bisa juga data baru, drift detected, schedule retrain bulanan.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Output ML pipeline bukan binary saja - tapi model + metrics + lineage + approval workflow.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F695432-675B-4E7E-8F8F-B7A7DEF4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Pipeline ML End-to-End</a:t>
            </a:r>
            <a:endParaRPr sz="1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012C4F9-08F3-46F9-ADD6-B078A90E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78308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BB326B1-A4F0-4939-9567-831CD60F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783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2B0F830-E549-4811-A09A-2898B6F2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600"/>
          </a:p>
        </p:txBody>
      </p:sp>
      <p:pic>
        <p:nvPicPr>
          <p:cNvPr id="7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9e302c72843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" y="35204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72ECBD87-9355-4744-B058-60162CCD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Data Ingest</a:t>
            </a:r>
            <a:endParaRPr sz="12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B6E9BCE7-A5D9-4931-8A81-52E302AA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Pull dari warehouse, validate schema</a:t>
            </a:r>
            <a:endParaRPr sz="9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8DBCDCAD-20F4-4219-BC4E-9F65D01E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3886200"/>
            <a:ext cx="109728" cy="3200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422E16F8-17FF-46EF-8C5C-850D6181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971800"/>
            <a:ext cx="178308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BA23E560-ED98-4C76-946A-9672DDD3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971800"/>
            <a:ext cx="1783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A4A52784-14BB-4276-8C09-99F5B979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97180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600"/>
          </a:p>
        </p:txBody>
      </p:sp>
      <p:pic>
        <p:nvPicPr>
          <p:cNvPr id="8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f8fc3f8bf4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4952" y="35204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9C36D79-9164-4519-8D77-FFF53164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40690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Data Validation</a:t>
            </a:r>
            <a:endParaRPr sz="12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EBAD55DB-EB4D-4036-942F-382FAED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443484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Check distribution, missing, outlier</a:t>
            </a:r>
            <a:endParaRPr sz="900"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89806092-7168-4562-BED5-307E8AE2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886200"/>
            <a:ext cx="109728" cy="3200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1A8404FB-B1C9-4C73-9901-332AAEC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971800"/>
            <a:ext cx="178308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8AA8CE05-2034-4BA3-BA60-9B9483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971800"/>
            <a:ext cx="1783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C013A6A6-EF72-4468-BDFF-57D7D4D6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97180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600"/>
          </a:p>
        </p:txBody>
      </p:sp>
      <p:pic>
        <p:nvPicPr>
          <p:cNvPr id="9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755f4719e41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2624" y="35204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8C9E4095-3A9C-43A9-92B4-A8F1E656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40690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Train</a:t>
            </a:r>
            <a:endParaRPr sz="1200"/>
          </a:p>
        </p:txBody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BC121E9E-34E3-4FF1-9A3D-CB2E762B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443484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Train model, track exp (W&amp;B/MLflow)</a:t>
            </a:r>
            <a:endParaRPr sz="900"/>
          </a:p>
        </p:txBody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D7ADB3A1-70F7-4C7C-A6AF-CA12E77D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3886200"/>
            <a:ext cx="109728" cy="3200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BE5D658-9980-4EDE-97D2-B987B9D2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71800"/>
            <a:ext cx="178308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769871AC-17F5-4D4A-8F50-93F2326B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71800"/>
            <a:ext cx="1783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19A11BA6-A187-49A4-85EC-711390F0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7180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600"/>
          </a:p>
        </p:txBody>
      </p:sp>
      <p:pic>
        <p:nvPicPr>
          <p:cNvPr id="9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106d0bf4f44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0296" y="35204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32659411-0047-4416-9CBB-C779BA28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40690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Evaluate</a:t>
            </a:r>
            <a:endParaRPr sz="1200"/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1758F1F7-8038-4080-8765-85D128C8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443484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Test set + drift check + fairness</a:t>
            </a:r>
            <a:endParaRPr sz="900"/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DF7767FE-B40A-4AC5-832F-046795EA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886200"/>
            <a:ext cx="109728" cy="3200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A9B621B4-EFC6-4018-BE3E-5ABD3B4B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971800"/>
            <a:ext cx="178308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061C948A-70F0-4B6E-876C-21E7730F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971800"/>
            <a:ext cx="1783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333E34E0-53C4-41AF-812F-28431DA4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97180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600"/>
          </a:p>
        </p:txBody>
      </p:sp>
      <p:pic>
        <p:nvPicPr>
          <p:cNvPr id="10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9e302c72843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87968" y="35204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831B28F7-391E-4A4E-9526-FC85962D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0690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Register</a:t>
            </a:r>
            <a:endParaRPr sz="1200"/>
          </a:p>
        </p:txBody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88EBB7E9-84E8-4B01-935C-EB45A4B6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43484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Push ke Model Registry kalau lulus</a:t>
            </a:r>
            <a:endParaRPr sz="900"/>
          </a:p>
        </p:txBody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A2A7DADD-63E9-4F68-A616-F59FE1DB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886200"/>
            <a:ext cx="109728" cy="3200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8" name="Shape 39">
            <a:extLst xmlns:a="http://schemas.openxmlformats.org/drawingml/2006/main">
              <a:ext uri="{FF2B5EF4-FFF2-40B4-BE49-F238E27FC236}">
                <a16:creationId xmlns:a16="http://schemas.microsoft.com/office/drawing/2014/main" id="{121E9E1A-D3A0-4DAE-B8CF-3B75762C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971800"/>
            <a:ext cx="178308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9" name="Shape 40">
            <a:extLst xmlns:a="http://schemas.openxmlformats.org/drawingml/2006/main">
              <a:ext uri="{FF2B5EF4-FFF2-40B4-BE49-F238E27FC236}">
                <a16:creationId xmlns:a16="http://schemas.microsoft.com/office/drawing/2014/main" id="{3FB6573F-BDD5-4E91-B6FA-071EBD51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971800"/>
            <a:ext cx="1783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6905B49A-C2FE-4FC6-97C0-709E9E82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971800"/>
            <a:ext cx="1783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600"/>
          </a:p>
        </p:txBody>
      </p:sp>
      <p:pic>
        <p:nvPicPr>
          <p:cNvPr id="113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3b782bccd41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35204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2" name="Text 42">
            <a:extLst xmlns:a="http://schemas.openxmlformats.org/drawingml/2006/main">
              <a:ext uri="{FF2B5EF4-FFF2-40B4-BE49-F238E27FC236}">
                <a16:creationId xmlns:a16="http://schemas.microsoft.com/office/drawing/2014/main" id="{84180346-00B1-4934-B463-721062C3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690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Deploy</a:t>
            </a:r>
            <a:endParaRPr sz="1200"/>
          </a:p>
        </p:txBody>
      </p:sp>
      <p:sp>
        <p:nvSpPr>
          <p:cNvPr id="53" name="Text 43">
            <a:extLst xmlns:a="http://schemas.openxmlformats.org/drawingml/2006/main">
              <a:ext uri="{FF2B5EF4-FFF2-40B4-BE49-F238E27FC236}">
                <a16:creationId xmlns:a16="http://schemas.microsoft.com/office/drawing/2014/main" id="{92820255-A4AB-4520-BC65-1282911F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484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Canary -&gt; 100% dengan auto rollback</a:t>
            </a:r>
            <a:endParaRPr sz="900"/>
          </a:p>
        </p:txBody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271B3827-029E-4A08-93CE-ED19A0F2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5" name="Text 45">
            <a:extLst xmlns:a="http://schemas.openxmlformats.org/drawingml/2006/main">
              <a:ext uri="{FF2B5EF4-FFF2-40B4-BE49-F238E27FC236}">
                <a16:creationId xmlns:a16="http://schemas.microsoft.com/office/drawing/2014/main" id="{8E2B44D5-562D-49F5-AAB3-6392E269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784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Trigger umum: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(1) code merge ke main, (2) data baru sampai threshold, (3) scheduled retrain (weekly/monthly), (4) drift detector alert, (5) manual trigger dari engineer.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219176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69BDC1-0640-4753-B1A8-8BB58475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51F87C-06A5-44D5-96B6-F7E1375D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0871048-3280-4619-B848-16507F67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b27435f074e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9dfd34e42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616C30E-CAB9-4224-B4E7-41323B92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DB6D49C-9D36-4D84-8065-651A61EE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Model Registry &amp; Versioning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EB79BB1-9404-429F-B38B-9AD706E3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Tempat simpan model + metadata + lineage - bukan asal upload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1FE751B-06E9-4016-A2CB-61EA3E75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12470BD-6C5C-4B90-89BB-5B48BDC5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Yang Disimpan di Model Registry</a:t>
            </a:r>
            <a:endParaRPr sz="1400"/>
          </a:p>
        </p:txBody>
      </p:sp>
      <p:pic>
        <p:nvPicPr>
          <p:cNvPr id="5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af65533df48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3A44D3A-9ABE-4AF5-B3F8-7EA84C92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0116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Model weights (.pth, .pkl, .onnx, .pb)</a:t>
            </a:r>
            <a:endParaRPr sz="1100"/>
          </a:p>
        </p:txBody>
      </p:sp>
      <p:pic>
        <p:nvPicPr>
          <p:cNvPr id="5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66e4c2cc143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060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27977A74-2774-47DC-AE79-C57000EE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Config &amp; hyperparameter (yaml/json)</a:t>
            </a:r>
            <a:endParaRPr sz="1100"/>
          </a:p>
        </p:txBody>
      </p:sp>
      <p:pic>
        <p:nvPicPr>
          <p:cNvPr id="5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b1567de2d4f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1089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0180955E-B214-4ACF-9E93-CA19A2EB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1752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Training metrics (accuracy, loss curve)</a:t>
            </a:r>
            <a:endParaRPr sz="1100"/>
          </a:p>
        </p:txBody>
      </p:sp>
      <p:pic>
        <p:nvPicPr>
          <p:cNvPr id="6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a1f2588604e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6118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D22B7E79-37DA-4406-9F8C-8B2EC5F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204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Code version (git SHA training script)</a:t>
            </a:r>
            <a:endParaRPr sz="1100"/>
          </a:p>
        </p:txBody>
      </p:sp>
      <p:pic>
        <p:nvPicPr>
          <p:cNvPr id="6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4dfee422147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1148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07E92D44-F681-4DD2-B965-7F27EA16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233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 version (DVC hash, snapshot)</a:t>
            </a:r>
            <a:endParaRPr sz="1100"/>
          </a:p>
        </p:txBody>
      </p:sp>
      <p:pic>
        <p:nvPicPr>
          <p:cNvPr id="6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bc6f067f44d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177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E3BF7F0D-C692-4A89-8EED-5DEE7B3D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5262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Evaluation report (val/test metrics)</a:t>
            </a:r>
            <a:endParaRPr sz="1100"/>
          </a:p>
        </p:txBody>
      </p:sp>
      <p:pic>
        <p:nvPicPr>
          <p:cNvPr id="6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ee43d038740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1206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C020F24B-5390-470C-933E-F0DBA8E9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0292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Approval status (dev/staging/prod)</a:t>
            </a:r>
            <a:endParaRPr sz="1100"/>
          </a:p>
        </p:txBody>
      </p:sp>
      <p:pic>
        <p:nvPicPr>
          <p:cNvPr id="69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48546108a4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6235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7" name="Text 15">
            <a:extLst xmlns:a="http://schemas.openxmlformats.org/drawingml/2006/main">
              <a:ext uri="{FF2B5EF4-FFF2-40B4-BE49-F238E27FC236}">
                <a16:creationId xmlns:a16="http://schemas.microsoft.com/office/drawing/2014/main" id="{0B8E0CC3-E3DC-43B0-B854-62A6C250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53212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Deployment history (timestamp + by who)</a:t>
            </a:r>
            <a:endParaRPr sz="1100"/>
          </a:p>
        </p:txBody>
      </p:sp>
      <p:sp>
        <p:nvSpPr>
          <p:cNvPr id="28" name="Shape 16">
            <a:extLst xmlns:a="http://schemas.openxmlformats.org/drawingml/2006/main">
              <a:ext uri="{FF2B5EF4-FFF2-40B4-BE49-F238E27FC236}">
                <a16:creationId xmlns:a16="http://schemas.microsoft.com/office/drawing/2014/main" id="{4CF3686B-4059-4507-AE43-1459E4D0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9" name="Shape 17">
            <a:extLst xmlns:a="http://schemas.openxmlformats.org/drawingml/2006/main">
              <a:ext uri="{FF2B5EF4-FFF2-40B4-BE49-F238E27FC236}">
                <a16:creationId xmlns:a16="http://schemas.microsoft.com/office/drawing/2014/main" id="{34369D30-2B4A-4980-A862-7170C7D4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0" name="Shape 18">
            <a:extLst xmlns:a="http://schemas.openxmlformats.org/drawingml/2006/main">
              <a:ext uri="{FF2B5EF4-FFF2-40B4-BE49-F238E27FC236}">
                <a16:creationId xmlns:a16="http://schemas.microsoft.com/office/drawing/2014/main" id="{C5D46779-6205-486C-A48D-71B7ECB3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1" name="Shape 19">
            <a:extLst xmlns:a="http://schemas.openxmlformats.org/drawingml/2006/main">
              <a:ext uri="{FF2B5EF4-FFF2-40B4-BE49-F238E27FC236}">
                <a16:creationId xmlns:a16="http://schemas.microsoft.com/office/drawing/2014/main" id="{0C31A0A7-E217-4F04-86EC-F376C8A5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2" name="Shape 20">
            <a:extLst xmlns:a="http://schemas.openxmlformats.org/drawingml/2006/main">
              <a:ext uri="{FF2B5EF4-FFF2-40B4-BE49-F238E27FC236}">
                <a16:creationId xmlns:a16="http://schemas.microsoft.com/office/drawing/2014/main" id="{F7497260-6EBA-43F1-8114-CAED527E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3" name="Text 21">
            <a:extLst xmlns:a="http://schemas.openxmlformats.org/drawingml/2006/main">
              <a:ext uri="{FF2B5EF4-FFF2-40B4-BE49-F238E27FC236}">
                <a16:creationId xmlns:a16="http://schemas.microsoft.com/office/drawing/2014/main" id="{E2ABFEA1-74B5-469B-8F74-306491F6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MLflow - register + promote model</a:t>
            </a:r>
            <a:endParaRPr sz="900"/>
          </a:p>
        </p:txBody>
      </p:sp>
      <p:sp>
        <p:nvSpPr>
          <p:cNvPr id="34" name="Text 22">
            <a:extLst xmlns:a="http://schemas.openxmlformats.org/drawingml/2006/main">
              <a:ext uri="{FF2B5EF4-FFF2-40B4-BE49-F238E27FC236}">
                <a16:creationId xmlns:a16="http://schemas.microsoft.com/office/drawing/2014/main" id="{B3D1EE3E-3C8A-4520-9BAA-17766588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mlflow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mlflow.tracking import MlflowClient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Log run + register model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with mlflow.start_run() as run: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mlflow.log_params(hyperparams)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mlflow.log_metrics({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"accuracy": 0.93,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"f1": 0.91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})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mlflow.pytorch.log_model(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model, "model",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registered_model_name="fish-classifier"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Promote ke Production stage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client = MlflowClient()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client.transition_model_version_stage(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name="fish-classifier",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version=3, stage="Production"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43111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A4C9FB-3214-46B0-9661-B9DB91A4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8C1A344-159B-415A-97A6-D3999692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6BB4C66-C27B-4DF0-AF03-EC28F2DB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d119cf8ae49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985b8876b44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0D18FE8-2B2E-4F11-9531-4D00755E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3279FED-97FB-48E7-8C39-E4099EED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Feature Store - The Missing Piece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5B168B6-7705-487C-8B49-885562E5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Database tapi untuk feature ML - bridge antara training dan serving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7F90F1A-79A9-46D2-8995-1C47F2EA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2F7F062-2FE2-4A15-A31C-247E9E74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Problem: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 engineering di-tulis 2x - pandas saat training, custom code (Java/JS) saat inference. Skew!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Solution: Feature Store - 1 tempat define feature, dipakai consistent di training + serving.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244055C-6B38-4D7B-8031-CDDEBEA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CDA8E45-88FA-4C15-9806-A7610623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Arsitektur Feature Store</a:t>
            </a:r>
            <a:endParaRPr sz="13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806779B4-3CA0-4C25-B50A-9F8904BF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031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7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b0be493ce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1600" y="32461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BACEF796-8897-4F96-8F18-19994258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048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Source</a:t>
            </a:r>
            <a:endParaRPr sz="11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13C64429-6065-42BF-9FE2-F2A81250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6052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Postgres, S3, Kafka</a:t>
            </a:r>
            <a:endParaRPr sz="90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C15BF85C-089E-4DD7-B05E-6E931E8E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3320"/>
            <a:ext cx="274320" cy="3200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8A73F263-7F67-4EC5-AE1F-EDF8EF08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108960"/>
            <a:ext cx="21031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7e8080b644a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1920" y="32461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B4E98BDD-1328-415E-8B06-FDC0A283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84048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 Logic</a:t>
            </a:r>
            <a:endParaRPr sz="11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1150BAE1-DE67-46CA-B0D1-B23BD471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16052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SQL / Python def</a:t>
            </a:r>
            <a:endParaRPr sz="9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282CD868-430A-4C12-B478-8CA8116D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03320"/>
            <a:ext cx="274320" cy="32004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DB354C56-D4C2-4512-A24A-72D6C348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10312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82b13c67541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2240" y="32461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0B887BB-5236-4EF0-8C1B-97591F69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84048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 Store</a:t>
            </a:r>
            <a:endParaRPr sz="11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3B662A34-367F-45FC-A973-35399533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16052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Offline + Online</a:t>
            </a:r>
            <a:endParaRPr sz="90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3F9709C5-6536-446C-BCE0-B04E90D0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337560"/>
            <a:ext cx="27432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8DF10EF-2E03-4376-8B9E-F38CD0A1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10896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training</a:t>
            </a:r>
            <a:endParaRPr sz="800"/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746F1C3B-0DB7-40C4-B746-170FD1A1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23360"/>
            <a:ext cx="27432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8AC444EB-411F-4AE9-960C-42E67C9A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29768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inference</a:t>
            </a:r>
            <a:endParaRPr sz="800"/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678C1771-4E18-46DF-9B53-33EE64D8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7889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8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8327f4ee24b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2926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DD4D0A02-3FA4-4903-AC0E-C00DDD20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80360"/>
            <a:ext cx="19202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Training Pipeline</a:t>
            </a:r>
            <a:endParaRPr sz="1100"/>
          </a:p>
        </p:txBody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24D95F8E-09C8-4735-97B6-01BA9E23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79476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pic>
        <p:nvPicPr>
          <p:cNvPr id="9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2cf034367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393192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A5562B1B-0D8F-4DD2-AB13-1EC0FC6E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19202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Inference Server</a:t>
            </a:r>
            <a:endParaRPr sz="110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30D55F49-4CE2-43B3-9EB5-18A3CCAF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348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Tools yang Populer</a:t>
            </a:r>
            <a:endParaRPr sz="1300"/>
          </a:p>
        </p:txBody>
      </p:sp>
      <p:sp>
        <p:nvSpPr>
          <p:cNvPr id="39" name="Shape 30">
            <a:extLst xmlns:a="http://schemas.openxmlformats.org/drawingml/2006/main">
              <a:ext uri="{FF2B5EF4-FFF2-40B4-BE49-F238E27FC236}">
                <a16:creationId xmlns:a16="http://schemas.microsoft.com/office/drawing/2014/main" id="{CC057A84-92DF-41DC-9B94-FBDDB2B8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4960"/>
            <a:ext cx="2743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Text 31">
            <a:extLst xmlns:a="http://schemas.openxmlformats.org/drawingml/2006/main">
              <a:ext uri="{FF2B5EF4-FFF2-40B4-BE49-F238E27FC236}">
                <a16:creationId xmlns:a16="http://schemas.microsoft.com/office/drawing/2014/main" id="{64E1DB81-D82A-4D81-A4D2-099BFC62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406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Feast</a:t>
            </a:r>
            <a:endParaRPr sz="1200"/>
          </a:p>
        </p:txBody>
      </p:sp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8D600AD2-84DC-4956-8492-CB2D72D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06440"/>
            <a:ext cx="2468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Open-source, self-host</a:t>
            </a:r>
            <a:endParaRPr sz="1000"/>
          </a:p>
        </p:txBody>
      </p:sp>
      <p:sp>
        <p:nvSpPr>
          <p:cNvPr id="42" name="Shape 33">
            <a:extLst xmlns:a="http://schemas.openxmlformats.org/drawingml/2006/main">
              <a:ext uri="{FF2B5EF4-FFF2-40B4-BE49-F238E27FC236}">
                <a16:creationId xmlns:a16="http://schemas.microsoft.com/office/drawing/2014/main" id="{E4BDA338-6022-477E-AE0E-1607E383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394960"/>
            <a:ext cx="2743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C805831B-2789-4B27-BAED-58A21FF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4406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Tecton</a:t>
            </a:r>
            <a:endParaRPr sz="1200"/>
          </a:p>
        </p:txBody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7604BD34-A524-48AB-82FA-F5F8BF2D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806440"/>
            <a:ext cx="2468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Commercial, managed</a:t>
            </a:r>
            <a:endParaRPr sz="1000"/>
          </a:p>
        </p:txBody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E6230819-CD79-4DC5-8DC2-0AB00FAE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394960"/>
            <a:ext cx="2743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AEA529DF-886A-4E27-BAE1-6F4EDF07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4406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Hopsworks</a:t>
            </a:r>
            <a:endParaRPr sz="1200"/>
          </a:p>
        </p:txBody>
      </p:sp>
      <p:sp>
        <p:nvSpPr>
          <p:cNvPr id="47" name="Text 38">
            <a:extLst xmlns:a="http://schemas.openxmlformats.org/drawingml/2006/main">
              <a:ext uri="{FF2B5EF4-FFF2-40B4-BE49-F238E27FC236}">
                <a16:creationId xmlns:a16="http://schemas.microsoft.com/office/drawing/2014/main" id="{16B74F1B-A799-4C45-AA87-2ED79391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806440"/>
            <a:ext cx="2468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 + enterprise</a:t>
            </a:r>
            <a:endParaRPr sz="1000"/>
          </a:p>
        </p:txBody>
      </p:sp>
      <p:sp>
        <p:nvSpPr>
          <p:cNvPr id="48" name="Shape 39">
            <a:extLst xmlns:a="http://schemas.openxmlformats.org/drawingml/2006/main">
              <a:ext uri="{FF2B5EF4-FFF2-40B4-BE49-F238E27FC236}">
                <a16:creationId xmlns:a16="http://schemas.microsoft.com/office/drawing/2014/main" id="{1DFD53A8-2CC7-4B5B-9C4C-FDA71E99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394960"/>
            <a:ext cx="2743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9" name="Text 40">
            <a:extLst xmlns:a="http://schemas.openxmlformats.org/drawingml/2006/main">
              <a:ext uri="{FF2B5EF4-FFF2-40B4-BE49-F238E27FC236}">
                <a16:creationId xmlns:a16="http://schemas.microsoft.com/office/drawing/2014/main" id="{8E905386-53D5-4C81-A8AA-8FA13869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4406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AWS SageMaker FS</a:t>
            </a:r>
            <a:endParaRPr sz="1200"/>
          </a:p>
        </p:txBody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3E1C966E-C26F-4505-8111-290C74CB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806440"/>
            <a:ext cx="2468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Cloud-native AWS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632514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0E5A34-6B56-4FC4-AA06-14C15CDF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94E181-E005-46D7-9998-B4B01F34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92E8B9A-4425-40C4-BC96-BB66D423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8c8c79bf14b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61267c79545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69A3A44-B2A4-493B-83EA-65C43947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94437F2-7C81-4860-BE4A-AE89D0D8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MLOps Tooling Landscape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3E0D18B-7E01-473E-A7BB-4890088D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Tool berbeda per stage - tidak ada 1 tool yang cover semua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0E0C562-9673-4DBF-B64C-F32C36D8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C01BCBC-86D0-403C-9194-3F97E847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F15DB6C-06E5-445A-9219-3189AD06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Experiment Tracking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AE051AF-2B4E-49CC-91BC-809BD947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331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MLflow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Weights &amp; Biases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Neptune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ClearML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08D798F-F1F3-478A-AFD6-25B4DC0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6B3E143-77F7-44D4-915A-78605BCA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19C4979-FB16-4BC3-A493-E4328943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Registry</a:t>
            </a:r>
            <a:endParaRPr sz="12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8D28C35-7823-410F-B061-4A763629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57400"/>
            <a:ext cx="2331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MLflow Registry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W&amp;B Artifacts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HF Hub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Vertex AI Registry</a:t>
            </a:r>
            <a:endParaRPr sz="11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E3E6219-3356-4913-8FB6-F5EA1463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99046B3-BD96-4EA2-8A80-5D4CD24A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5D7989F-DDC6-4652-B716-B6F96729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Orchestration</a:t>
            </a:r>
            <a:endParaRPr sz="12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EBB1A89-D003-48FE-9A35-7AE8404C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057400"/>
            <a:ext cx="2331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Airflow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Prefect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Dagster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Kubeflow Pipelines</a:t>
            </a:r>
            <a:endParaRPr sz="11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1DF85E5-BBC8-45FC-B355-5957A0A0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EC68F6D-1E1C-413A-A287-978E8616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7BE6E8C-5C20-4339-8089-8103394F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 Store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4FB7368F-A47B-4B41-B1F7-7E18D13F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057400"/>
            <a:ext cx="2331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Feast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Tecton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Hopsworks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SageMaker FS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5C03B7C-D772-40A9-B9CB-C4B7CF32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B7A7AFA1-F73C-47B3-8C33-12FD2BBC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1F432B5-B5BB-42D4-BDD1-10610BB9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Serving</a:t>
            </a:r>
            <a:endParaRPr sz="12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479AD008-7831-4801-BC28-8CCA1294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2331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TorchServe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TF Serving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Triton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BentoML</a:t>
            </a:r>
            <a:endParaRPr sz="11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9DA26826-85A1-4714-80BF-68590AC3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B924165-07E6-4D65-A242-4E737481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1DE45B48-A93E-4B05-9049-3F260EEC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</a:t>
            </a:r>
            <a:endParaRPr sz="12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D33AD5F5-C162-494F-9E41-E8CAAA22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4526280"/>
            <a:ext cx="2331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Evidently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Arize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WhyLabs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Fiddler</a:t>
            </a:r>
            <a:endParaRPr sz="11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355E905B-549D-46F3-9797-D0C0390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8C9AC03C-1EAA-485D-8780-3F9B7361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98CD911-398B-4A07-8B41-E113406D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Versioning</a:t>
            </a:r>
            <a:endParaRPr sz="12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8E0C014-2230-49F4-BC21-147D2461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4526280"/>
            <a:ext cx="2331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DVC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LakeFS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Pachyderm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Quilt</a:t>
            </a:r>
            <a:endParaRPr sz="11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DA7FDDC0-62E1-4F17-AD74-7DAAFF0D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0CCC8D80-324E-44AC-9836-EFBC6F09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80B87E14-0C6E-40D3-B008-3B14A0B1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All-in-One Platform</a:t>
            </a:r>
            <a:endParaRPr sz="12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39372425-FA60-4D4A-BD42-DBBEFDCE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4526280"/>
            <a:ext cx="233172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Vertex AI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SageMaker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Azure ML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Databricks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407415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108004B-5E20-450F-B889-4B54D4B6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E1D39F8-3FC6-4818-9690-75636D96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8068FDE-CA9C-4D68-B3A7-9C1470E9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5BB87C7-D639-4303-9B5D-BBDCF24F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BBBE3B9-9EC2-4823-BB13-DEF277AE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F78E5FC-954C-4170-9F73-384383D6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ACFD8CD-9623-4BD5-8369-B1A0469C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25c68a848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01a336b164c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12F5160-BCC4-4374-8EDC-4C8B0428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1A5ED18-69E3-4908-9902-828F3941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Cost &amp; Scale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Optimization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26EAE60F-5B70-4ED2-AAAF-365D9308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2E1E7-7DDA-402A-9EA7-C7186157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GPU mahal - cara hemat tanpa kompromi user experience.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717341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A7EE68-F31E-4D9C-BA79-41594D91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C321EA-B707-4754-88DA-A9628A20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F07FCEB-6594-472E-BCD2-D02C2334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279d299ef45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99563fdc54a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F034721-819A-4390-B3B2-6C2CD051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B7C6BB4-F931-44DE-9F42-AA7BCAFE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GPU Cost Optimization - 5 Trik Hemat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3962739-2610-422B-940F-C78E7CE8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Penghematan biaya perlu diukur pada beban kerja dan mutu layanan Anda.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C3533AB-FD82-4FF2-B0D2-5B79924D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FB4F040-6AA3-400B-8B3F-27C98EA2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3c2ec3a2a40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F6DAA13-A4D2-4C17-82AC-ABEFCB1F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6304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Quantization (INT8/FP16)</a:t>
            </a:r>
            <a:endParaRPr sz="120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06854071-9F09-4968-B30F-EF06664E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08760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3E06E8EA-E141-49EB-8E83-A44660B0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08760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60-75%</a:t>
            </a:r>
            <a:endParaRPr sz="11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365137D0-448D-4D18-8DE4-B55FE158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Convert weights FP32 -&gt; INT8. Model 4x kecil, 2-3x cepat di CPU.</a:t>
            </a:r>
            <a:endParaRPr sz="10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4145441D-A215-4303-AE2A-777AA050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A392A67A-A526-40C5-951D-1451A921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torch.quantization.quantize_dynamic, bitsandbytes 8bit</a:t>
            </a:r>
            <a:endParaRPr sz="95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9DEC4FE8-2C0B-4660-B804-C9721AB2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C20ECC89-61A0-4DA3-9E49-99021AFF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9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7f60787b84a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C27AF325-8FAA-414B-A8A7-84A5A11B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6304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Distilled / Smaller Model</a:t>
            </a:r>
            <a:endParaRPr sz="12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038C96EE-9B74-4B5B-AD70-D1F67253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508760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BD3A06FA-1154-4153-92B5-A7A4BF74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508760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40-60%</a:t>
            </a:r>
            <a:endParaRPr sz="11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82B78E1A-3A6C-40C2-959F-3731CDD5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1168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DistilBERT 60% lebih kecil dari BERT, accuracy turun 3%.</a:t>
            </a:r>
            <a:endParaRPr sz="1050"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12BB030E-6A6F-410F-9FA1-B0DE40B2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233CED79-85A3-45CB-88C1-B6A1A7C7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Pakai *-distilled atau *-small variant di Hub</a:t>
            </a:r>
            <a:endParaRPr sz="95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3B930D0A-15F2-4646-8976-1721A75B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DCD077F0-1652-48E6-88E9-61357781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10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524e60cff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1E4DB229-5EAE-4170-95F1-33C64F36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6304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Spot / Preemptible</a:t>
            </a:r>
            <a:endParaRPr sz="1200"/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87ACFB1D-8DDF-41B2-BEE0-697FD179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08760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DD6C4437-D2DC-4F9B-9D63-7E84EF57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08760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60-90%</a:t>
            </a:r>
            <a:endParaRPr sz="1100"/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7042EEDB-554D-4E85-8072-17457919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01168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Beli GPU yang bisa di-revoke kapan saja. AWS spot 70% diskon.</a:t>
            </a:r>
            <a:endParaRPr sz="1050"/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FECBA14A-C99F-4454-A446-3E6EABC7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B4DD7F46-8CD4-4E79-B3A0-DF20494D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AWS Spot, GCP Preemptible. Retry logic + checkpointing</a:t>
            </a:r>
            <a:endParaRPr sz="950"/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92D8E626-646D-4D35-AE23-4D3E16CE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F63BEC63-1136-4ACC-B7B8-D6861624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10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f0f5cc59042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ABB879AD-C65E-45F1-86CC-453D789C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404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Batching</a:t>
            </a:r>
            <a:endParaRPr sz="1200"/>
          </a:p>
        </p:txBody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C6295B60-38AC-4855-B274-56080B7C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886200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63D71E67-A814-4462-A32C-B4EFB9FF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886200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70-85%</a:t>
            </a:r>
            <a:endParaRPr sz="1100"/>
          </a:p>
        </p:txBody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46A806C0-A1DB-4B0A-9F70-5338E969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Process 32 request sekaligus, bukan 1 per 1. GPU utilization naik.</a:t>
            </a:r>
            <a:endParaRPr sz="1050"/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066B481D-DAEF-4F0A-931F-BB7C2C2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8905223B-5D93-420A-AD3C-42CFDB2C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Dynamic batching: TorchServe, Triton, vLLM</a:t>
            </a:r>
            <a:endParaRPr sz="950"/>
          </a:p>
        </p:txBody>
      </p:sp>
      <p:sp>
        <p:nvSpPr>
          <p:cNvPr id="46" name="Shape 38">
            <a:extLst xmlns:a="http://schemas.openxmlformats.org/drawingml/2006/main">
              <a:ext uri="{FF2B5EF4-FFF2-40B4-BE49-F238E27FC236}">
                <a16:creationId xmlns:a16="http://schemas.microsoft.com/office/drawing/2014/main" id="{587C88EB-7923-4EC3-B8A9-564D45AC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39">
            <a:extLst xmlns:a="http://schemas.openxmlformats.org/drawingml/2006/main">
              <a:ext uri="{FF2B5EF4-FFF2-40B4-BE49-F238E27FC236}">
                <a16:creationId xmlns:a16="http://schemas.microsoft.com/office/drawing/2014/main" id="{7061E501-AEAD-4965-9E6B-F217C34C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11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22dcbaaf047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9" name="Text 40">
            <a:extLst xmlns:a="http://schemas.openxmlformats.org/drawingml/2006/main">
              <a:ext uri="{FF2B5EF4-FFF2-40B4-BE49-F238E27FC236}">
                <a16:creationId xmlns:a16="http://schemas.microsoft.com/office/drawing/2014/main" id="{F79E896C-EACE-415A-B3D3-DC99BD03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8404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Schedule Off-Hours</a:t>
            </a:r>
            <a:endParaRPr sz="1200"/>
          </a:p>
        </p:txBody>
      </p:sp>
      <p:sp>
        <p:nvSpPr>
          <p:cNvPr id="50" name="Shape 41">
            <a:extLst xmlns:a="http://schemas.openxmlformats.org/drawingml/2006/main">
              <a:ext uri="{FF2B5EF4-FFF2-40B4-BE49-F238E27FC236}">
                <a16:creationId xmlns:a16="http://schemas.microsoft.com/office/drawing/2014/main" id="{D2A132AD-7DD5-42D0-A240-1EC94D33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86200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0597E6D3-8AD8-402A-A7BA-FDAAC4AB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86200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30-50%</a:t>
            </a:r>
            <a:endParaRPr sz="1100"/>
          </a:p>
        </p:txBody>
      </p:sp>
      <p:sp>
        <p:nvSpPr>
          <p:cNvPr id="52" name="Text 43">
            <a:extLst xmlns:a="http://schemas.openxmlformats.org/drawingml/2006/main">
              <a:ext uri="{FF2B5EF4-FFF2-40B4-BE49-F238E27FC236}">
                <a16:creationId xmlns:a16="http://schemas.microsoft.com/office/drawing/2014/main" id="{2FF81AFC-2DB0-4645-8EE7-68E879CA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8912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Training jalan malam (off-peak). Inference scale up siang.</a:t>
            </a:r>
            <a:endParaRPr sz="1050"/>
          </a:p>
        </p:txBody>
      </p:sp>
      <p:sp>
        <p:nvSpPr>
          <p:cNvPr id="53" name="Shape 44">
            <a:extLst xmlns:a="http://schemas.openxmlformats.org/drawingml/2006/main">
              <a:ext uri="{FF2B5EF4-FFF2-40B4-BE49-F238E27FC236}">
                <a16:creationId xmlns:a16="http://schemas.microsoft.com/office/drawing/2014/main" id="{A83D8522-2E3E-4DD9-803E-B233A76E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4" name="Text 45">
            <a:extLst xmlns:a="http://schemas.openxmlformats.org/drawingml/2006/main">
              <a:ext uri="{FF2B5EF4-FFF2-40B4-BE49-F238E27FC236}">
                <a16:creationId xmlns:a16="http://schemas.microsoft.com/office/drawing/2014/main" id="{4635A13F-A7A0-441C-8079-1DA42912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Cron + auto scale-down. Cheaper region jam tertentu</a:t>
            </a:r>
            <a:endParaRPr sz="950"/>
          </a:p>
        </p:txBody>
      </p:sp>
      <p:sp>
        <p:nvSpPr>
          <p:cNvPr id="55" name="Shape 46">
            <a:extLst xmlns:a="http://schemas.openxmlformats.org/drawingml/2006/main">
              <a:ext uri="{FF2B5EF4-FFF2-40B4-BE49-F238E27FC236}">
                <a16:creationId xmlns:a16="http://schemas.microsoft.com/office/drawing/2014/main" id="{E374A66D-2432-43D5-9CEC-8DFEFEC9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6" name="Shape 47">
            <a:extLst xmlns:a="http://schemas.openxmlformats.org/drawingml/2006/main">
              <a:ext uri="{FF2B5EF4-FFF2-40B4-BE49-F238E27FC236}">
                <a16:creationId xmlns:a16="http://schemas.microsoft.com/office/drawing/2014/main" id="{F7EA660B-A430-415E-A193-EB0E699F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12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28058d23f4c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58" name="Text 48">
            <a:extLst xmlns:a="http://schemas.openxmlformats.org/drawingml/2006/main">
              <a:ext uri="{FF2B5EF4-FFF2-40B4-BE49-F238E27FC236}">
                <a16:creationId xmlns:a16="http://schemas.microsoft.com/office/drawing/2014/main" id="{46B669D5-B2BD-492C-BDB3-FE4357F4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84048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Cache Hot Predictions</a:t>
            </a:r>
            <a:endParaRPr sz="1200"/>
          </a:p>
        </p:txBody>
      </p:sp>
      <p:sp>
        <p:nvSpPr>
          <p:cNvPr id="59" name="Shape 49">
            <a:extLst xmlns:a="http://schemas.openxmlformats.org/drawingml/2006/main">
              <a:ext uri="{FF2B5EF4-FFF2-40B4-BE49-F238E27FC236}">
                <a16:creationId xmlns:a16="http://schemas.microsoft.com/office/drawing/2014/main" id="{500BD8C7-7F56-4174-817C-B562D52D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886200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60" name="Text 50">
            <a:extLst xmlns:a="http://schemas.openxmlformats.org/drawingml/2006/main">
              <a:ext uri="{FF2B5EF4-FFF2-40B4-BE49-F238E27FC236}">
                <a16:creationId xmlns:a16="http://schemas.microsoft.com/office/drawing/2014/main" id="{580F310D-3836-4E4D-A9DD-7AFB3B11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886200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Bervariasi</a:t>
            </a:r>
            <a:endParaRPr sz="1100"/>
          </a:p>
        </p:txBody>
      </p:sp>
      <p:sp>
        <p:nvSpPr>
          <p:cNvPr id="61" name="Text 51">
            <a:extLst xmlns:a="http://schemas.openxmlformats.org/drawingml/2006/main">
              <a:ext uri="{FF2B5EF4-FFF2-40B4-BE49-F238E27FC236}">
                <a16:creationId xmlns:a16="http://schemas.microsoft.com/office/drawing/2014/main" id="{B711B509-5C8A-40B5-8A23-B03548DA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8912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Same input + same model = same output. Cache 1 jam = save banyak.</a:t>
            </a:r>
            <a:endParaRPr sz="1050"/>
          </a:p>
        </p:txBody>
      </p:sp>
      <p:sp>
        <p:nvSpPr>
          <p:cNvPr id="62" name="Shape 52">
            <a:extLst xmlns:a="http://schemas.openxmlformats.org/drawingml/2006/main">
              <a:ext uri="{FF2B5EF4-FFF2-40B4-BE49-F238E27FC236}">
                <a16:creationId xmlns:a16="http://schemas.microsoft.com/office/drawing/2014/main" id="{03943DA9-F337-44A1-809C-03DF7473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63" name="Text 53">
            <a:extLst xmlns:a="http://schemas.openxmlformats.org/drawingml/2006/main">
              <a:ext uri="{FF2B5EF4-FFF2-40B4-BE49-F238E27FC236}">
                <a16:creationId xmlns:a16="http://schemas.microsoft.com/office/drawing/2014/main" id="{A230AFE8-54AB-463C-9AFC-088626CE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Redis cache: key=hash(input+model_ver), TTL 1h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922699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ED7F7D-4A39-4657-A575-B286A1ED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04FC39A-91C7-417E-909F-720CAD7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29D130C-B701-4EFB-948F-EE95FC53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4afbad99c43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7440a6e1e44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6079372-B444-4049-A4A3-CB89DBEF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F52BC2C-A014-4C25-BA7D-D579C04D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Auto-Scaling untuk ML Inference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493CA6-0330-4283-A562-00B32071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Skala otomatis sesuai traffic - bukan provision yang gede 24/7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65B98E7-DCAD-4694-AAE4-5FE7567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78EF083-6613-4F73-826E-D9398AF8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Tantangan: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scale ML beda dari web - cold start 30 detik (load model), GPU tidak instant ready.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3 strategi: HPA (horizontal), VPA (vertical), scale-to-zero (off saat tidak ada traffic).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4617A66-9F14-4D20-86F5-1FDCB553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70332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5F454E0-60D1-4588-AE0C-EBD02DE9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B533DC7-C207-40C5-B18C-5983FA09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0604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HPA (Horizontal)</a:t>
            </a:r>
            <a:endParaRPr sz="14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52A0E8D-06A0-4AD9-A2EF-678BAA88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7180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Traffic variable</a:t>
            </a:r>
            <a:endParaRPr sz="10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D848E0A-A7AB-4A95-93C4-E44A4420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Pros: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B5A4E1A-0C59-4D0C-9A74-CDB0A255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Multi replica = HA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Linear cost scale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Standard K8s</a:t>
            </a:r>
            <a:endParaRPr sz="10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48612AC2-72A2-4B6E-B10E-E5367482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772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Cons:</a:t>
            </a:r>
            <a:endParaRPr sz="10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D5699291-A242-4D77-A0F4-39756AC1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46320"/>
            <a:ext cx="3337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 Load model per pod (cold start)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 Tidak fit untuk GPU mahal</a:t>
            </a:r>
            <a:endParaRPr sz="10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70F3843-0193-4E1D-B779-FCA3F9CA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B7D5AF9C-4D5D-47D4-BCE3-A04A56E4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 </a:t>
            </a: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CPU model, lightweight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9C266379-E1FE-43B3-AA27-F9BBB981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14600"/>
            <a:ext cx="370332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BAA979CA-8BEE-4D07-9450-C92668E1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1460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1EE6E3F-3585-4DC3-A85F-1D479582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60604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VPA (Vertical)</a:t>
            </a:r>
            <a:endParaRPr sz="14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8D891EF7-A4AE-47B1-A145-DC6AE69A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97180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Beban naik turun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24F9FC4-F16E-4F39-8028-9B10A00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8328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Pros:</a:t>
            </a:r>
            <a:endParaRPr sz="10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E69BA66F-3C85-4B5D-A39C-201FD0D2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61188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300"/>
              </ns0:spcAft>
              <ns0:buNone/>
            </ns0:pPr>
            <ns0:r>
              <ns0:rPr sz="1000">
                <ns0:solidFill>
                  <ns0:srgbClr val="1E293B"/>
                </ns0:solidFill>
                <ns0:latin typeface="Calibri"/>
                <ns0:ea typeface="Calibri"/>
                <ns0:cs typeface="Calibri"/>
              </ns0:rPr>
              <ns0:t>+ Menyesuaikan requests CPU/RAM</ns0:t>
            </ns0:r>
            <ns0:endParaRPr sz="1000"/>
          </ns0:p>
          <ns1:p xmlns:ns1="http://schemas.openxmlformats.org/drawingml/2006/main">
            <ns1:pPr marL="0" indent="0">
              <ns1:spcAft>
                <ns1:spcPts val="300"/>
              </ns1:spcAft>
              <ns1:buNone/>
            </ns1:pPr>
            <ns1:r>
              <ns1:rPr sz="1000">
                <ns1:solidFill>
                  <ns1:srgbClr val="1E293B"/>
                </ns1:solidFill>
                <ns1:latin typeface="Calibri"/>
                <ns1:ea typeface="Calibri"/>
                <ns1:cs typeface="Calibri"/>
              </ns1:rPr>
              <ns1:t>+ Mengurangi salah ukuran resource</ns1:t>
            </ns1:r>
            <ns1:endParaRPr sz="1000"/>
          </ns1:p>
          <ns2:p xmlns:ns2="http://schemas.openxmlformats.org/drawingml/2006/main">
            <ns2:pPr marL="0" indent="0">
              <ns2:spcAft>
                <ns2:spcPts val="300"/>
              </ns2:spcAft>
              <ns2:buNone/>
            </ns2:pPr>
            <ns2:r>
              <ns2:rPr sz="1000">
                <ns2:solidFill>
                  <ns2:srgbClr val="1E293B"/>
                </ns2:solidFill>
                <ns2:latin typeface="Calibri"/>
                <ns2:ea typeface="Calibri"/>
                <ns2:cs typeface="Calibri"/>
              </ns2:rPr>
              <ns2:t>+ Rekomendasi sesuai pemakaian</ns2:t>
            </ns2:r>
            <ns2:endParaRPr sz="1000"/>
          </ns2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2895F9C0-13A2-4023-94F3-F3891818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61772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Cons:</a:t>
            </a:r>
            <a:endParaRPr sz="10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A47BBB9F-D8B8-4272-906C-0D0057C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846320"/>
            <a:ext cx="3337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ns3:p xmlns:ns3="http://schemas.openxmlformats.org/drawingml/2006/main">
            <ns3:pPr marL="0" indent="0">
              <ns3:spcAft>
                <ns3:spcPts val="300"/>
              </ns3:spcAft>
              <ns3:buNone/>
            </ns3:pPr>
            <ns3:r>
              <ns3:rPr sz="1000">
                <ns3:solidFill>
                  <ns3:srgbClr val="1E293B"/>
                </ns3:solidFill>
                <ns3:latin typeface="Calibri"/>
                <ns3:ea typeface="Calibri"/>
                <ns3:cs typeface="Calibri"/>
              </ns3:rPr>
              <ns3:t>- Update dapat memicu restart pod</ns3:t>
            </ns3:r>
            <ns3:endParaRPr sz="1000"/>
          </ns3:p>
          <ns4:p xmlns:ns4="http://schemas.openxmlformats.org/drawingml/2006/main">
            <ns4:pPr marL="0" indent="0">
              <ns4:spcAft>
                <ns4:spcPts val="300"/>
              </ns4:spcAft>
              <ns4:buNone/>
            </ns4:pPr>
            <ns4:r>
              <ns4:rPr sz="1000">
                <ns4:solidFill>
                  <ns4:srgbClr val="1E293B"/>
                </ns4:solidFill>
                <ns4:latin typeface="Calibri"/>
                <ns4:ea typeface="Calibri"/>
                <ns4:cs typeface="Calibri"/>
              </ns4:rPr>
              <ns4:t>- Tergantung kebijakan dan cluster</ns4:t>
            </ns4:r>
            <ns4:endParaRPr sz="1000"/>
          </ns4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9F28832B-7D44-44AF-A296-490E8C0B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62356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F5D894A7-45AF-4D0F-B60D-CE00CF6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692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ns5:p xmlns:ns5="http://schemas.openxmlformats.org/drawingml/2006/main">
            <ns5:pPr marL="0" indent="0">
              <ns5:buNone/>
            </ns5:pPr>
            <ns5:r>
              <ns5:rPr sz="1000" i="1">
                <ns5:solidFill>
                  <ns5:srgbClr val="FED7AA"/>
                </ns5:solidFill>
                <ns5:latin typeface="Calibri"/>
                <ns5:ea typeface="Calibri"/>
                <ns5:cs typeface="Calibri"/>
              </ns5:rPr>
              <ns5:t>Pakai untuk: penyesuaian CPU/RAM pod</ns5:t>
            </ns5:r>
            <ns5:endParaRPr sz="1000"/>
          </ns5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38F4DD2E-CB53-4FB5-B814-EF6AEF44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14600"/>
            <a:ext cx="370332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EF88168-A248-4379-9254-F186EBB0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1460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35E17CA9-3D71-4EE4-BB94-72323101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0604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Scale-to-Zero</a:t>
            </a:r>
            <a:endParaRPr sz="14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36987064-FCEE-45B6-BC8E-EFF74451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71800"/>
            <a:ext cx="342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Traffic sporadic</a:t>
            </a:r>
            <a:endParaRPr sz="10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D797866F-E38C-44D4-AAB5-18975A1F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8328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Pros:</a:t>
            </a:r>
            <a:endParaRPr sz="10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FC914ABB-1D91-4909-97F3-754C9863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61188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$0 saat idle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Auto wake up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Maks cost saving</a:t>
            </a:r>
            <a:endParaRPr sz="10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C6F8A450-942A-437A-80E1-F35221EC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61772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Cons:</a:t>
            </a:r>
            <a:endParaRPr sz="10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1237A1D0-7767-42EC-AD6C-4FDAD71A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46320"/>
            <a:ext cx="3337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 Cold start 30s saat wake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 User pertama nunggu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71088285-C3B0-4326-93C2-A66C26F7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62356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D4953DD7-3750-47CB-A60B-41098234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66928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 </a:t>
            </a: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Demo, internal tool, low traffic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587018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272A93-5DED-4406-A037-4C1B502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6D7940-2B79-4BAE-B3D9-16209738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854EBD9-2CAD-40EC-BD34-7B7A22C6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46eca91ef47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d5f7f458d40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6BBF20C-A83F-4C4D-BFA4-6BFE76FA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1CB4519-DC2D-435A-A8CB-98D6401A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Inference Caching - Hit Cache Daripada Re-Infer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A8A8E75-B125-4399-BFF3-982EE286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Same input + same model = same output. Cache it.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6EA433E-F317-4097-A6CD-CCB86970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198EC56-F0BF-4484-8F75-B8349882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Strategi Cache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C176730-8996-48E7-8D23-1EE817ED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ca4e492484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488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B34FF92-1554-4E80-8F04-8DBF111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0312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Exact Match Cache</a:t>
            </a:r>
            <a:endParaRPr sz="12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268C046-41B4-4466-A334-8B14563F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46888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Hash input -&gt; output. Hit jika 100% sama.</a:t>
            </a:r>
            <a:endParaRPr sz="10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5BDF6473-0FD8-45A4-B4E3-2C867FF1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5212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130b8b9d64a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1089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85078A6F-D632-4762-963E-9FE30017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06324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Semantic Cache</a:t>
            </a:r>
            <a:endParaRPr sz="12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DFE92781-614E-4516-A9AF-4F307AE5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2900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Embedding similarity. 'good' &amp; 'awesome' bisa share cache.</a:t>
            </a:r>
            <a:endParaRPr sz="10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A5C8E132-D463-4C69-B765-52CA6371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5212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6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f6ed0b5f44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0690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C08F1637-381F-4F27-B78A-3529D7CD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02336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Multi-tier Cache</a:t>
            </a:r>
            <a:endParaRPr sz="12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79870171-FD2E-4E80-93C2-DC00A4D0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8912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L1: in-process LRU. L2: Redis. L3: DB query log.</a:t>
            </a:r>
            <a:endParaRPr sz="100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8C23DD25-59C2-4B1F-95A5-AD239D44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5212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6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1294291934b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0292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6F68E61D-F5A9-4FB5-9EBF-4845B7BC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98348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Negative Cache</a:t>
            </a:r>
            <a:endParaRPr sz="12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00FAC123-A53D-4619-A638-E841F393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349240"/>
            <a:ext cx="4434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Cache 'tidak ada hasil' kalau model error/no-match.</a:t>
            </a:r>
            <a:endParaRPr sz="1000"/>
          </a:p>
        </p:txBody>
      </p:sp>
      <p:sp>
        <p:nvSpPr>
          <p:cNvPr id="28" name="Shape 20">
            <a:extLst xmlns:a="http://schemas.openxmlformats.org/drawingml/2006/main">
              <a:ext uri="{FF2B5EF4-FFF2-40B4-BE49-F238E27FC236}">
                <a16:creationId xmlns:a16="http://schemas.microsoft.com/office/drawing/2014/main" id="{16D49E3A-2C86-4EB1-978C-01F67600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9" name="Shape 21">
            <a:extLst xmlns:a="http://schemas.openxmlformats.org/drawingml/2006/main">
              <a:ext uri="{FF2B5EF4-FFF2-40B4-BE49-F238E27FC236}">
                <a16:creationId xmlns:a16="http://schemas.microsoft.com/office/drawing/2014/main" id="{444C2E8E-EBF5-49B7-8921-AF81BF84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0" name="Shape 22">
            <a:extLst xmlns:a="http://schemas.openxmlformats.org/drawingml/2006/main">
              <a:ext uri="{FF2B5EF4-FFF2-40B4-BE49-F238E27FC236}">
                <a16:creationId xmlns:a16="http://schemas.microsoft.com/office/drawing/2014/main" id="{CF1DA105-5EAD-4F44-859C-269BAA8E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1" name="Shape 23">
            <a:extLst xmlns:a="http://schemas.openxmlformats.org/drawingml/2006/main">
              <a:ext uri="{FF2B5EF4-FFF2-40B4-BE49-F238E27FC236}">
                <a16:creationId xmlns:a16="http://schemas.microsoft.com/office/drawing/2014/main" id="{F78D783A-9B43-423F-ADC5-216CB435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2" name="Shape 24">
            <a:extLst xmlns:a="http://schemas.openxmlformats.org/drawingml/2006/main">
              <a:ext uri="{FF2B5EF4-FFF2-40B4-BE49-F238E27FC236}">
                <a16:creationId xmlns:a16="http://schemas.microsoft.com/office/drawing/2014/main" id="{0E51F3E0-7850-4953-901C-EEBC0DE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6D5D7F26-9987-44DB-A8FC-0FBF7299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Redis cache pattern - FastAPI</a:t>
            </a:r>
            <a:endParaRPr sz="900"/>
          </a:p>
        </p:txBody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7A53B69A-F396-419D-9C22-835E133E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hashlib, redis, json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 = redis.Redis(host='cache')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cache_key(model_ver, input_data):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h = hashlib.sha256(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json.dumps(input_data).encode()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).hexdigest()[:16]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return f"pred:{model_ver}:{h}"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predict_cached(model_ver, data):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key = cache_key(model_ver, data)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cached = r.get(key)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    if cached: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return json.loads(cached)  # HIT!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# Miss - run inference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result = model.predict(data)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r.setex(key, 3600,  # TTL 1 jam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json.dumps(result))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return result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415910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00D104-8C26-4D24-A824-D269B17F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DC57C7-B879-4F36-BAF9-316F75AB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C52148F-8E90-4066-8FA6-6AC236D6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CFFAB94-4206-4B6E-A741-6D639A37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C20B1F8-5373-4828-BF52-88633814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AFCAE68-F4F3-4008-8CD7-69480A35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3A0CC24-932E-4CA2-B694-1AFAACE7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ddcf06485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e6878e23844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FEE9AFF-D97A-46D2-9D2B-B9C434D4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3DDF50E-9B4F-4AAB-A736-A9EDB69A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Tips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69F1B8E-E421-4B94-8B16-5571AC0B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412E5A0-9BEC-485A-9E1B-9CEAD11C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Failure mode umum, incident playbook, SLO.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969594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D833E7-5193-4636-BAB4-48EEFAE6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D05B03-56DA-4BAE-88D8-AC325148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6AD7A9-9FA8-406E-823A-B4C43284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b58ff1fad43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b90c783d544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0497825-0358-4E93-85B1-72960A84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9BD3DA6-705F-440B-8017-C6D9B60E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Top 6 ML Production Failures + Cara Fix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9AA5D68-F5D2-450D-B026-196390F7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Bug yang sering ke-detect setelah deploy production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078612B-761D-4AD7-A83E-D6951E19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459FB9F-F0CB-41B7-A717-B24A966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1EA7C65-00E2-4FC1-8F2D-3DC62047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Training-serving skew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4C197E2-33D5-4A4C-A8A9-7522EB26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Preprocessing di training (pandas .lower()) beda dengan production (JS toLowerCase) - hasil prediksi shift.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2826320-6326-46A1-BC73-D7FCE0B5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D07026D-9A4C-4CCA-B468-734CF09D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Shared feature pipeline (Feature Store) + integration test end-to-end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1EF4E09-7575-4AFC-894D-36076CE6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C9C17A4-BF66-4378-9A7C-0851C44F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7B7E080-37BF-45E4-9706-272080FF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overfit ke val set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FF68F006-8445-474D-BEB7-27F2CF1F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Iterasi terlalu banyak di val set, accuracy bagus di test tapi turun di production.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2A6EEDC1-31F4-40B5-9007-726BAA1D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D9C0C89F-4202-4E81-8B4E-41E3572C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Hold-out 'test set' yang dipakai 1x saja saat final eval. Pakai cross-validation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DFAB8C2-0E24-4705-9DE8-6790941B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09462B2E-98BC-42C3-B206-6AA287D5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5CE9A97C-0B52-426C-9030-28A14D22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Selection bias data train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D7A0912B-B260-4076-B12B-5BF8DA39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Train data dari user existing, model gagal untuk user baru yang punya karakteristik berbeda.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E73B9792-AED4-4C54-894B-617EBDC3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53F39D6-7ECB-43F6-BF5D-79D6511F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7180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Sampling strategy yang representative + monitor performance per segment user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50F7A54-80CC-403D-8510-57D24FE5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9C733FB-511E-4405-B949-2AB6D55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46EF6D3-1454-48CB-8AE7-3E954474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Memory leak inference</a:t>
            </a:r>
            <a:endParaRPr sz="1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055688B7-E712-4117-93E7-E84C749E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Loop inference akumulasi tensor di GPU memory - lama-lama OOM crash.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B9F0DE99-7B92-454E-9A4E-80822036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4D8F34FF-929F-402C-A363-230229A7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torch.no_grad() saat inference, gc.collect() periodic, profile memory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D0E5C3E-DF65-4E83-B59A-3802435A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E009417-D1DC-4CB1-86C0-BD56C44A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0260ADE5-A2B9-4D6E-95B2-D84CE4D8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Silent label corruption</a:t>
            </a:r>
            <a:endParaRPr sz="12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62F9E21C-6FB4-45B3-A641-184DA6CE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Pipeline upstream rusak, label kolom shift 1 index - model train ke wrong target.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7B18512-D51B-481F-91BB-F7DEFF0D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00092A-6F14-495A-93D1-116266D6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92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 validation di awal pipeline (Great Expectations, Pandera)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658BD685-BAB6-465A-9140-2A2DE720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839FF949-1B0A-48A6-87E2-267D02CC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34AE905A-A85F-485E-BE36-A8424DA3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Stale model version</a:t>
            </a:r>
            <a:endParaRPr sz="12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13857164-D241-4384-9321-6E1C97C4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Deploy v2 ke 50%, tapi cache CDN serve weights v1 - inconsistent prediction.</a:t>
            </a:r>
            <a:endParaRPr sz="10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23F3946E-D08F-4D85-B899-385D04EC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1E5E5581-C5B0-41ED-86A6-C83FA27F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492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Cache invalidation strict, version header di response, smoke test post-deploy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261075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98B99B-F914-4E27-8577-33592209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B5A0F6-A0E7-497F-8DD3-C9219F15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BEE152-87F5-4058-AD51-ED8ACDB6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095d097d746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375af50df4c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1ACFC97-B63E-4D8B-A621-B33FE05E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0CBC982-6AEE-4141-B51F-8DE62544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Incident Response Playbook untuk ML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5FAECF6-E70F-4A72-B802-B0B0E25A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Saat model bermasalah - alur respons standar 5 step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FA0CB6F-C10A-40F9-86D6-EE54FE7C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A09CC47-2944-42CD-A6A6-F7E3BB51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32E8C14-1C7D-4BDD-9179-FA1FF17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727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9E9ACBEB-125B-4A0C-A305-4BE7305C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7276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7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52aee6f4f4f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" y="16459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E2FED21E-78F3-4440-B630-BB2F2958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0876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Detect</a:t>
            </a:r>
            <a:endParaRPr sz="15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EF42979-EE9B-4133-A52E-F3BDBE0A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508760"/>
            <a:ext cx="6035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Alert dari monitoring (drift, accuracy drop, error spike, business metric off).</a:t>
            </a:r>
            <a:endParaRPr sz="11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51CC41B8-BB04-41D5-B345-3A992445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64208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1B9F1A9B-F360-4DE7-A7C9-17BF6989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64208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0-5 min</a:t>
            </a:r>
            <a:endParaRPr sz="10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B8912098-922C-4A3A-91A6-8E84A173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7E20C3DB-FADE-4021-9624-2AD711C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46F83C85-2AFF-4B02-BEF8-5512936C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328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BD7C9AC9-D135-459B-800A-E0BB62B9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3288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8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ca3efb73749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" y="26060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6B1C6FF0-EA1C-4B9B-BCCF-AD31A564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6888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Triage</a:t>
            </a:r>
            <a:endParaRPr sz="15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84D1FD57-08BC-4760-8AE6-9C02004E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468880"/>
            <a:ext cx="6035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Severity? P0 (revenue impact), P1 (degradation), P2 (minor). Page on-call kalau P0.</a:t>
            </a:r>
            <a:endParaRPr sz="1100"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4A3AFD4C-596D-4D97-BC3E-2ABAF96D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24328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BD5092A1-9AEB-4A09-B476-E1E72D69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24328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5-15 min</a:t>
            </a:r>
            <a:endParaRPr sz="10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4B849DE7-E3E8-4499-89A8-646157E5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2B1D8EE0-8784-4CF4-A542-CD073331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45E3DE79-99A6-4E05-9B0C-0CC2C94B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930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CC4E76D7-21D7-4303-8380-84472F94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930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9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657749baa49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" y="35661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6BA66B5-F0B8-47CA-9490-32864F1D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2900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Mitigate</a:t>
            </a:r>
            <a:endParaRPr sz="1500"/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7E7696C7-1150-4168-9B25-9F5F5B0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429000"/>
            <a:ext cx="6035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Rollback dulu (revert ke versi sebelumnya). Stop bleeding sebelum investigate.</a:t>
            </a:r>
            <a:endParaRPr sz="1100"/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C31DA3D9-E861-48B1-B3AA-BB36169C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84448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2182E4B4-4A83-4914-BA08-DEC4313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84448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5-30 min</a:t>
            </a:r>
            <a:endParaRPr sz="1000"/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A7BAA172-2602-4EA6-A8DE-D8DB9FF4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0AD82B20-B49C-49F5-BC19-6EE0D481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1CAE4890-4E45-4341-BD6D-04387A36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5312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BAC55648-1CB6-4502-A515-76BA658D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5312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10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6d904214344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" y="45262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9567DD43-D2F5-4839-83A1-F6E36052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8912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Investigate</a:t>
            </a:r>
            <a:endParaRPr sz="1500"/>
          </a:p>
        </p:txBody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AFA92352-2E9D-4896-BB1E-31CD0864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389120"/>
            <a:ext cx="6035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Logs, data sample, drift report - root cause analysis. Apakah data, code, atau infra?</a:t>
            </a:r>
            <a:endParaRPr sz="1100"/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21E0F4C3-2CAC-4720-9C7A-E71FA180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44568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2E153322-D405-4492-BEA5-A2D11D2D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44568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 min - hours</a:t>
            </a:r>
            <a:endParaRPr sz="1000"/>
          </a:p>
        </p:txBody>
      </p:sp>
      <p:sp>
        <p:nvSpPr>
          <p:cNvPr id="46" name="Shape 38">
            <a:extLst xmlns:a="http://schemas.openxmlformats.org/drawingml/2006/main">
              <a:ext uri="{FF2B5EF4-FFF2-40B4-BE49-F238E27FC236}">
                <a16:creationId xmlns:a16="http://schemas.microsoft.com/office/drawing/2014/main" id="{286B3F88-5918-4289-8A31-A107D7C0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39">
            <a:extLst xmlns:a="http://schemas.openxmlformats.org/drawingml/2006/main">
              <a:ext uri="{FF2B5EF4-FFF2-40B4-BE49-F238E27FC236}">
                <a16:creationId xmlns:a16="http://schemas.microsoft.com/office/drawing/2014/main" id="{69356BB8-2288-49DA-A190-A30BD76F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8" name="Shape 40">
            <a:extLst xmlns:a="http://schemas.openxmlformats.org/drawingml/2006/main">
              <a:ext uri="{FF2B5EF4-FFF2-40B4-BE49-F238E27FC236}">
                <a16:creationId xmlns:a16="http://schemas.microsoft.com/office/drawing/2014/main" id="{3720A1B5-F5C9-433C-A8AF-B00194BA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132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65976B37-7009-4D19-9597-3A47602C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132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2200"/>
          </a:p>
        </p:txBody>
      </p:sp>
      <p:pic>
        <p:nvPicPr>
          <p:cNvPr id="11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e336cd09942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" y="54864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AED91C5D-0736-4561-AEE8-201769F8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492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Postmortem</a:t>
            </a:r>
            <a:endParaRPr sz="1500"/>
          </a:p>
        </p:txBody>
      </p:sp>
      <p:sp>
        <p:nvSpPr>
          <p:cNvPr id="52" name="Text 43">
            <a:extLst xmlns:a="http://schemas.openxmlformats.org/drawingml/2006/main">
              <a:ext uri="{FF2B5EF4-FFF2-40B4-BE49-F238E27FC236}">
                <a16:creationId xmlns:a16="http://schemas.microsoft.com/office/drawing/2014/main" id="{79A00746-3A40-47D0-BF35-64113399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5349240"/>
            <a:ext cx="6035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Blameless postmortem dalam 48 jam. Action items + monitoring tambahan untuk cegah berulang.</a:t>
            </a:r>
            <a:endParaRPr sz="1100"/>
          </a:p>
        </p:txBody>
      </p:sp>
      <p:sp>
        <p:nvSpPr>
          <p:cNvPr id="53" name="Shape 44">
            <a:extLst xmlns:a="http://schemas.openxmlformats.org/drawingml/2006/main">
              <a:ext uri="{FF2B5EF4-FFF2-40B4-BE49-F238E27FC236}">
                <a16:creationId xmlns:a16="http://schemas.microsoft.com/office/drawing/2014/main" id="{F5485A94-98B4-462E-BDED-795D0801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504688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54" name="Text 45">
            <a:extLst xmlns:a="http://schemas.openxmlformats.org/drawingml/2006/main">
              <a:ext uri="{FF2B5EF4-FFF2-40B4-BE49-F238E27FC236}">
                <a16:creationId xmlns:a16="http://schemas.microsoft.com/office/drawing/2014/main" id="{212AEF73-5FF0-485B-8CBF-091882F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504688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1-2 days</a:t>
            </a:r>
            <a:endParaRPr sz="1000"/>
          </a:p>
        </p:txBody>
      </p:sp>
      <p:sp>
        <p:nvSpPr>
          <p:cNvPr id="55" name="Shape 46">
            <a:extLst xmlns:a="http://schemas.openxmlformats.org/drawingml/2006/main">
              <a:ext uri="{FF2B5EF4-FFF2-40B4-BE49-F238E27FC236}">
                <a16:creationId xmlns:a16="http://schemas.microsoft.com/office/drawing/2014/main" id="{7C0787DC-1EC1-4212-B770-21125BFB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56" name="Text 47">
            <a:extLst xmlns:a="http://schemas.openxmlformats.org/drawingml/2006/main">
              <a:ext uri="{FF2B5EF4-FFF2-40B4-BE49-F238E27FC236}">
                <a16:creationId xmlns:a16="http://schemas.microsoft.com/office/drawing/2014/main" id="{A6B2285E-FF60-4F7D-9C54-D87E0B15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Aturan emas: </a:t>
            </a: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rollback dulu, investigate kemudian. User experience &gt; pride developer.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124428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6C82EF-AA61-4A0B-A258-7414F3DF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B32A50-0BC1-4712-A29E-09DC0DE1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45182B7-04F2-44B8-8D6C-B6040F36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970f7ff9e43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ffa10399140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566F4EC-2F41-4C54-ABFB-E54A1BCE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C135AB2-6A38-42D3-B332-F77F42EB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SLA + SLO + Error Budget untuk ML Service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2F8046C-0829-4AC5-81AA-5F47B26D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Definisi formal kualitas service - data-driven decision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F695CC6-CA1C-4D09-AA86-481BA630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DA16A63-D4E0-4CC3-8E3E-E61797ED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Konsep dari Google SRE: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SLI (apa diukur) -&gt; SLO (target internal) -&gt; SLA (janji ke customer + penalty).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Error Budget = jatah ketidakhandalan = (1 - SLO) periode. Kalau habis, freeze feature, fokus reliability.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0B26D4C3-18FB-46F0-979A-804A8D73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269748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17D3523-EC58-49A2-BE9E-50BABBCE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26974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E9D5386-55E3-42DF-95AF-73DC938D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SLI</a:t>
            </a:r>
            <a:endParaRPr sz="26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5B2FA21-5E74-4466-A2A1-41B452F5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2697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 spc="1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Service Level Indicator</a:t>
            </a:r>
            <a:endParaRPr sz="10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9CAC1E8-14F1-4E80-9BF8-F84D917C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23317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Metrik yang DIUKUR. Spesifik dan measurable.</a:t>
            </a:r>
            <a:endParaRPr sz="11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492F7B4-F488-4287-8840-8876C9B2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7215234-70F6-4298-A267-7934626C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83480"/>
            <a:ext cx="23317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Latency p99, accuracy 7-day rolling, uptime %</a:t>
            </a:r>
            <a:endParaRPr sz="10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2C3A05C5-DD23-4974-BD28-B141308A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423160"/>
            <a:ext cx="269748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948D5A3C-317F-4776-A5B9-CDF053E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423160"/>
            <a:ext cx="26974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053DC35E-2C99-44DF-BF26-E5C90EE9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46888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SLO</a:t>
            </a:r>
            <a:endParaRPr sz="26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EA798A21-754E-4798-9907-197C051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926080"/>
            <a:ext cx="2697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 spc="1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Service Level Objective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1A617A5-B52F-47A9-A9DF-F9CDC59E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429000"/>
            <a:ext cx="23317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TARGET internal untuk SLI. Aspirational tapi realistic.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0497521-5882-430D-A97F-5DC80ADD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75488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8F29AF98-14D5-4229-BB05-380AD65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983480"/>
            <a:ext cx="23317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Latency p99 &lt; 200ms 99% bulan, accuracy &gt;= 90%</a:t>
            </a:r>
            <a:endParaRPr sz="10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0DBA7F-3886-42AA-AD2E-6F42F12A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423160"/>
            <a:ext cx="269748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5BD88E7A-7FBB-4F38-BDE4-5A63EA84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423160"/>
            <a:ext cx="26974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D852F85F-BD0D-425B-9D6A-9DD40955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46888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SLA</a:t>
            </a:r>
            <a:endParaRPr sz="26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38265A61-00DD-4F92-8747-DD04EA70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926080"/>
            <a:ext cx="2697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 spc="1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Service Level Agreement</a:t>
            </a:r>
            <a:endParaRPr sz="10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D542F5C-4986-4686-9B79-53997F2A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429000"/>
            <a:ext cx="23317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JANJI eksternal ke customer dengan penalty kalau dilanggar.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0CFB7548-DDDD-4E89-A9F2-8E37509F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75488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732118A-CEB1-4E75-BC4C-DDDDB468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83480"/>
            <a:ext cx="23317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Uptime 99.9% atau refund 10%. Jarang untuk ML accuracy</a:t>
            </a:r>
            <a:endParaRPr sz="10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55861F79-DFB5-40DA-99C8-75D8FAE6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423160"/>
            <a:ext cx="269748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7B2FC0-A1F8-430C-ACC3-4A7A44C3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423160"/>
            <a:ext cx="26974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B73E87DE-CED5-4DE7-BAB3-446B6CFC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46888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Budget</a:t>
            </a:r>
            <a:endParaRPr sz="26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C7BF06C9-D8ED-4279-B41E-A63C497D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926080"/>
            <a:ext cx="2697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 spc="1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Error Budget</a:t>
            </a:r>
            <a:endParaRPr sz="10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3926FAEA-16FF-4C19-B6BF-05D5BE59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429000"/>
            <a:ext cx="23317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JATAH ketidakhandalan. Sisa = boleh push fitur baru.</a:t>
            </a:r>
            <a:endParaRPr sz="11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1A9CBA21-FF54-47FE-ADA1-6A80FAD7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75488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EF40FA4F-4782-46B0-9BED-3468A3DF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983480"/>
            <a:ext cx="23317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SLO 99.9% = budget 0.1% = 43 menit/bulan downtime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687621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37C5E1-8D02-4682-86B1-AC6DFB3A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5F9133-115D-4405-9DF8-F794CC7D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C6528F-BAD7-446B-AD55-44B9306E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e42f2242f4b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58ca46f4740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C3F818B-150A-4B29-84C1-542DE8C0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56715AC-CA07-4677-9A8C-823ED0A6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Build vs Buy - Decision Matrix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70EF045-72A0-45D8-AA11-A8524786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Custom ML pipeline vs managed platform - kapan pilih yang mana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0CB06C0-4F66-42CE-A387-F5C9C96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4A80DAA-9DFE-46B8-9CDC-492012BA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085C283-718C-4AED-BEBD-5ED337FC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- Self-Host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DE0E33C-3674-4D80-B928-B3C4B22B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212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open-source (MLflow + Airflow + Evidently di K8s)</a:t>
            </a:r>
            <a:endParaRPr sz="1100"/>
          </a:p>
        </p:txBody>
      </p:sp>
      <p:pic>
        <p:nvPicPr>
          <p:cNvPr id="7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cf40efb44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7889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81053E87-31D7-4B72-AB57-4491D54F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69748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Full control + customization</a:t>
            </a:r>
            <a:endParaRPr sz="1100"/>
          </a:p>
        </p:txBody>
      </p:sp>
      <p:pic>
        <p:nvPicPr>
          <p:cNvPr id="7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cf40efb44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918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C3F10E4D-0410-473C-B819-6C95F331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0040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Tidak ada vendor lock-in</a:t>
            </a:r>
            <a:endParaRPr sz="1100"/>
          </a:p>
        </p:txBody>
      </p:sp>
      <p:pic>
        <p:nvPicPr>
          <p:cNvPr id="7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cf40efb44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947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8F948A80-7E7E-484C-87CD-6299C9F3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Cost rendah saat scale up</a:t>
            </a:r>
            <a:endParaRPr sz="1100"/>
          </a:p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cf40efb44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97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AF113B7B-713C-42FE-94DD-78D5AD2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0624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Cocok untuk team ML &gt; 5 orang</a:t>
            </a:r>
            <a:endParaRPr sz="1100"/>
          </a:p>
        </p:txBody>
      </p:sp>
      <p:pic>
        <p:nvPicPr>
          <p:cNvPr id="8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193de2003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8006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FCD32112-F4B0-449C-A942-0A57B823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Butuh DevOps + MLOps engineer</a:t>
            </a:r>
            <a:endParaRPr sz="1100"/>
          </a:p>
        </p:txBody>
      </p:sp>
      <p:pic>
        <p:nvPicPr>
          <p:cNvPr id="8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193de2003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3035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C3FF0108-1E35-47AD-B32F-FB00C413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1208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Maintenance burden tinggi</a:t>
            </a:r>
            <a:endParaRPr sz="1100"/>
          </a:p>
        </p:txBody>
      </p:sp>
      <p:pic>
        <p:nvPicPr>
          <p:cNvPr id="8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193de2003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8064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485E9780-7BA4-4250-B142-FC706FD3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71500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Time-to-production lama</a:t>
            </a:r>
            <a:endParaRPr sz="1100"/>
          </a:p>
        </p:txBody>
      </p:sp>
      <p:sp>
        <p:nvSpPr>
          <p:cNvPr id="28" name="Shape 17">
            <a:extLst xmlns:a="http://schemas.openxmlformats.org/drawingml/2006/main">
              <a:ext uri="{FF2B5EF4-FFF2-40B4-BE49-F238E27FC236}">
                <a16:creationId xmlns:a16="http://schemas.microsoft.com/office/drawing/2014/main" id="{6D575638-7912-47F4-BE6C-07D7CE6E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3CEEC93-E0C3-4506-A33C-A25B322F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21576BFE-F6AC-4D2A-8E60-0CDC994B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BUY - Managed Platform</a:t>
            </a:r>
            <a:endParaRPr sz="1400"/>
          </a:p>
        </p:txBody>
      </p:sp>
      <p:sp>
        <p:nvSpPr>
          <p:cNvPr id="31" name="Text 20">
            <a:extLst xmlns:a="http://schemas.openxmlformats.org/drawingml/2006/main">
              <a:ext uri="{FF2B5EF4-FFF2-40B4-BE49-F238E27FC236}">
                <a16:creationId xmlns:a16="http://schemas.microsoft.com/office/drawing/2014/main" id="{5A837569-C2B1-46FF-AB35-8F194BC0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SageMaker, Vertex AI, Azure ML, Databricks</a:t>
            </a:r>
            <a:endParaRPr sz="1100"/>
          </a:p>
        </p:txBody>
      </p:sp>
      <p:pic>
        <p:nvPicPr>
          <p:cNvPr id="93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cf40efb44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7889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3" name="Text 21">
            <a:extLst xmlns:a="http://schemas.openxmlformats.org/drawingml/2006/main">
              <a:ext uri="{FF2B5EF4-FFF2-40B4-BE49-F238E27FC236}">
                <a16:creationId xmlns:a16="http://schemas.microsoft.com/office/drawing/2014/main" id="{943936AA-B6C0-426B-B775-3C5762D4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9748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Time-to-production cepat</a:t>
            </a:r>
            <a:endParaRPr sz="1100"/>
          </a:p>
        </p:txBody>
      </p:sp>
      <p:pic>
        <p:nvPicPr>
          <p:cNvPr id="95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cf40efb44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2918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5" name="Text 22">
            <a:extLst xmlns:a="http://schemas.openxmlformats.org/drawingml/2006/main">
              <a:ext uri="{FF2B5EF4-FFF2-40B4-BE49-F238E27FC236}">
                <a16:creationId xmlns:a16="http://schemas.microsoft.com/office/drawing/2014/main" id="{4D691A70-5078-459C-BCC0-E1FE075C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20040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Tidak perlu MLOps engineer dedicated</a:t>
            </a:r>
            <a:endParaRPr sz="1100"/>
          </a:p>
        </p:txBody>
      </p:sp>
      <p:pic>
        <p:nvPicPr>
          <p:cNvPr id="97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cf40efb44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7947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7" name="Text 23">
            <a:extLst xmlns:a="http://schemas.openxmlformats.org/drawingml/2006/main">
              <a:ext uri="{FF2B5EF4-FFF2-40B4-BE49-F238E27FC236}">
                <a16:creationId xmlns:a16="http://schemas.microsoft.com/office/drawing/2014/main" id="{150D7FF5-678B-4CAF-8A71-425BBE57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0332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Auto-scale + SLA built-in</a:t>
            </a:r>
            <a:endParaRPr sz="1100"/>
          </a:p>
        </p:txBody>
      </p:sp>
      <p:pic>
        <p:nvPicPr>
          <p:cNvPr id="99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cf40efb444a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297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9" name="Text 24">
            <a:extLst xmlns:a="http://schemas.openxmlformats.org/drawingml/2006/main">
              <a:ext uri="{FF2B5EF4-FFF2-40B4-BE49-F238E27FC236}">
                <a16:creationId xmlns:a16="http://schemas.microsoft.com/office/drawing/2014/main" id="{A20698C2-3FA2-4D69-8D6A-E72002CF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0624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Cocok untuk startup / team &lt; 5</a:t>
            </a:r>
            <a:endParaRPr sz="1100"/>
          </a:p>
        </p:txBody>
      </p:sp>
      <p:pic>
        <p:nvPicPr>
          <p:cNvPr id="101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193de2003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8006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1" name="Text 25">
            <a:extLst xmlns:a="http://schemas.openxmlformats.org/drawingml/2006/main">
              <a:ext uri="{FF2B5EF4-FFF2-40B4-BE49-F238E27FC236}">
                <a16:creationId xmlns:a16="http://schemas.microsoft.com/office/drawing/2014/main" id="{FB567D5E-664A-4A74-BCC7-32688C73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70916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Vendor lock-in (migrasi sulit)</a:t>
            </a:r>
            <a:endParaRPr sz="1100"/>
          </a:p>
        </p:txBody>
      </p:sp>
      <p:pic>
        <p:nvPicPr>
          <p:cNvPr id="103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193de2003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3035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3" name="Text 26">
            <a:extLst xmlns:a="http://schemas.openxmlformats.org/drawingml/2006/main">
              <a:ext uri="{FF2B5EF4-FFF2-40B4-BE49-F238E27FC236}">
                <a16:creationId xmlns:a16="http://schemas.microsoft.com/office/drawing/2014/main" id="{5A941A82-413A-4FBB-97AC-1369DAE6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21208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Cost mahal saat traffic besar</a:t>
            </a:r>
            <a:endParaRPr sz="1100"/>
          </a:p>
        </p:txBody>
      </p:sp>
      <p:pic>
        <p:nvPicPr>
          <p:cNvPr id="105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193de2003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8064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5" name="Text 27">
            <a:extLst xmlns:a="http://schemas.openxmlformats.org/drawingml/2006/main">
              <a:ext uri="{FF2B5EF4-FFF2-40B4-BE49-F238E27FC236}">
                <a16:creationId xmlns:a16="http://schemas.microsoft.com/office/drawing/2014/main" id="{AD6E9314-7C3D-4392-B67B-10D580FA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71500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Customization limited</a:t>
            </a:r>
            <a:endParaRPr sz="1100"/>
          </a:p>
        </p:txBody>
      </p:sp>
      <p:sp>
        <p:nvSpPr>
          <p:cNvPr id="46" name="Text 28">
            <a:extLst xmlns:a="http://schemas.openxmlformats.org/drawingml/2006/main">
              <a:ext uri="{FF2B5EF4-FFF2-40B4-BE49-F238E27FC236}">
                <a16:creationId xmlns:a16="http://schemas.microsoft.com/office/drawing/2014/main" id="{2A24ECE4-A49B-4931-B557-BE68777D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Rule of thumb: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Mulai BUY (cepat ke market).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Saat biaya atau kebutuhan kontrol meningkat, evaluasi biaya total dan kapasitas tim.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13752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5DB90B-0FE0-4FBA-B4E9-451FCBBD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7A6233-134F-49D8-AC42-1454AEB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A607FD9-1BB0-4956-82D6-216E6E96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4e00845434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cd3b1977c48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CDD5197-F580-4CE4-A93A-240A8761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B67BE3B-2F7E-4255-8988-8CF38B56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MLOps Maturity Model - Di Level Mana Tim Anda?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5BA9278-AC90-4C59-8E6E-3FB50FF9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Self-assessment - tingkatan otomatisasi ML lifecycle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148222C-3DDE-4E8B-A0F8-D369F22A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DB801F5-3792-4049-8C2E-838D2174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29BEE74-4FD8-4D43-B83E-719EC589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Level 0</a:t>
            </a:r>
            <a:endParaRPr sz="16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515C53C-C282-4036-A330-B250BB67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Manual Process</a:t>
            </a:r>
            <a:endParaRPr sz="12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2816048-FCAD-458A-9574-250432AE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233172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Notebook + manual deploy. Tidak ada CI/CD. Single model deployment.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431D408-EFFB-4F1E-9319-566C8482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Typical team: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73216F5-7C77-4C6F-8211-A89E0A52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Solo data scientist</a:t>
            </a:r>
            <a:endParaRPr sz="11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7393384-7D09-495B-8630-775833D5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Tanda-tanda:</a:t>
            </a:r>
            <a:endParaRPr sz="9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496A1E35-A845-41C7-856B-BFBD947D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2331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B167F96A-35FA-4458-9EF1-6F150976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1208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Train di laptop, kirim .pkl via email</a:t>
            </a:r>
            <a:endParaRPr sz="9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8A4E96C4-1004-4C8A-A7D2-2D914F51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F8B3784-136C-4940-B615-43E6AAB4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20CB0B98-820B-4134-8C86-B4E5AF60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6304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Level 1</a:t>
            </a:r>
            <a:endParaRPr sz="16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82DE66A-744D-4390-99F5-99083B79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87452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Pipeline Automation</a:t>
            </a:r>
            <a:endParaRPr sz="12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FCEB28F-350B-450E-A206-08DB7C08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468880"/>
            <a:ext cx="233172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Train pipeline otomatis. Manual deploy. Ada feature store + experiment tracking.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835676-8BDC-444C-A25D-0CEAD14E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2519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Typical team:</a:t>
            </a:r>
            <a:endParaRPr sz="9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07A754E7-F74E-4365-8F8C-5FB69D89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48056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Small ML team</a:t>
            </a:r>
            <a:endParaRPr sz="11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C08AC28-C16F-42EB-B81D-5DF3B1B3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9377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Tanda-tanda:</a:t>
            </a:r>
            <a:endParaRPr sz="9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67BE3137-2970-41DF-B530-06C0F2BA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212080"/>
            <a:ext cx="2331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5B0C72BC-05A2-428B-BEA6-297188EE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521208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MLflow tracking, scheduled retrain via cron</a:t>
            </a:r>
            <a:endParaRPr sz="9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E276F70D-B22F-4246-8E35-5183A634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8908B98E-893A-4363-B45C-E797CD63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E06965AE-1B6E-49BC-95D9-AD12418B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6304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Level 2</a:t>
            </a:r>
            <a:endParaRPr sz="16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D305750B-1846-4929-99A1-3435017D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87452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CI/CD Pipeline</a:t>
            </a:r>
            <a:endParaRPr sz="12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C447A87-31F2-4743-8951-9529AE54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468880"/>
            <a:ext cx="233172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Otomasi: data validation, train, eval, deploy. Auto-rollback. Multi-model.</a:t>
            </a:r>
            <a:endParaRPr sz="11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D100D73-D845-4296-990D-039FE327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2519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Typical team:</a:t>
            </a:r>
            <a:endParaRPr sz="9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40181A91-9238-4EE5-9F62-6FB2772D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48056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Mature ML team</a:t>
            </a:r>
            <a:endParaRPr sz="11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46FC5FDA-749A-448F-8505-334EF3BA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377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Tanda-tanda:</a:t>
            </a:r>
            <a:endParaRPr sz="9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DE3EC8B5-6230-4BB7-B6B7-CDFC93E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212080"/>
            <a:ext cx="2331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502E47E5-DD54-4715-8215-B6A56CB2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521208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Pull request trigger train + eval + deploy</a:t>
            </a:r>
            <a:endParaRPr sz="95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64EE5957-E796-46DC-9692-F3716A7F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4B6C79DD-ABCE-4EDD-AD69-A03F30B1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7A9BB630-28D2-49AE-B852-2255B394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6304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Level 3</a:t>
            </a:r>
            <a:endParaRPr sz="16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266A5941-2E41-4E17-BFC0-F4AE284F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87452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Full MLOps</a:t>
            </a:r>
            <a:endParaRPr sz="12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35D6E71D-DF30-4E4A-B623-ACAE99CE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468880"/>
            <a:ext cx="233172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Continuous training berdasar drift. A/B test otomatis. Self-healing pipeline.</a:t>
            </a:r>
            <a:endParaRPr sz="11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468E3239-DAF6-4417-90D7-13042128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2519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Typical team:</a:t>
            </a:r>
            <a:endParaRPr sz="9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0E4E8A67-222B-4BEC-B555-4382E658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48056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Big Tech / FAANG</a:t>
            </a:r>
            <a:endParaRPr sz="1100"/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827229EE-D628-4144-AD32-AA3BAF50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9377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Tanda-tanda:</a:t>
            </a:r>
            <a:endParaRPr sz="900"/>
          </a:p>
        </p:txBody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6511AA74-1338-4E56-8CF2-1967E8A7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5212080"/>
            <a:ext cx="23317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BEA10CB6-A4D4-4E74-A444-95A16E3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21208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Drift detector trigger retrain + auto-promote</a:t>
            </a:r>
            <a:endParaRPr sz="95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99466C70-CA87-44CC-AE65-4FC26B8B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Pesan: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Mulai dari Level 0-1. Naik level saat ada multiple model + multiple developer. Tidak perlu Level 3 untuk semua tim.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15458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16381C-69D9-4BFE-B3BD-0730B55F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BC7E36A-793A-47D6-96B5-30C1F18C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811CED2-85EC-4616-90AB-A19CC8FE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f975ada7640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3e1e2ffb144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2721E6D-AB2E-4414-A500-FD7E1A6B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19294AA-182D-4F67-989A-F520394C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- ML in Production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160A1AB-3C35-456B-9DF3-173282A6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Print, tempel di samping laptop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03B268E-E96D-4AB2-995C-197A4D35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039677F-D032-405C-8CB9-A80E4C70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C4CE105-D037-4481-9F52-26152F88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Failure Modes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099AAA1-F329-4BE6-887B-371D3080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Data drift (P(X) shift)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Concept drift (P(Y|X))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Train-serve skew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Infra failure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Memory leak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Label corruption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2C02B366-A1E4-4B76-AD6E-C060D79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408EBFE-1A5D-4128-8970-2A62A1E5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BCF5E52-A7B8-4419-8354-B29E0E9D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 3L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DD47C1B-78E5-4187-9EEE-81C71DEA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L1: System (CPU/GPU)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L2: Model (drift, acc)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L3: Business (CTR, $)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Latency p99 &lt; 200ms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Drift PSI &lt; 0.2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Manual override &lt; 5%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0854CD9-C917-402D-B72D-8DF918DC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661FD32-869F-4E9D-9CFC-47208B69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EE5ACF3-BD0A-488B-9256-C2A9020F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Drift Detect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11695EF-FC10-4FDE-AB1E-F94AC61E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KS test (numeric)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PSI (binned)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Chi-square (categorical)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JS divergence (text)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Evidently lib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Threshold + alert</a:t>
            </a:r>
            <a:endParaRPr sz="10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DCCCB70-D0D0-4802-9DE4-EEDCC87C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C76D6925-E82E-4576-9600-9CA36A2B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B95C6F1-8761-438F-ACB3-185E930D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C405307-133C-4C0E-8C6A-B330564B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Recreate (dev)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Blue-green (standard)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Canary 5-&gt;100%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Shadow (validate)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Auto-rollback on regress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A/B for impact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A41A2F5E-495A-4411-B148-2B727133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33453B3F-5DA8-46C2-A33B-70C47585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B1AE7CC-E133-4FF4-BCC6-4FE650CF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MLOps Stack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7DBB285F-7F4B-4BF2-B014-21264FD7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MLflow (tracking)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W&amp;B (experiments)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Evidently (drift)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Feast (features)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Airflow (orchestrate)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BentoML (serve)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0AE752FC-2B13-4644-8101-8DAF4E4D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F7CE9CE-F663-4CD1-A9CA-009ECDB4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54CEE72-233D-496B-BAF4-0CD76514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Cost Save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00A041C5-294F-49A1-A353-50C533E8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INT8 quantization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Distilled models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Spot instances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Dynamic batching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Schedule off-hours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Redis cache hot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BD66ED27-9597-42A1-BCCC-0AC26657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70923BFC-625A-4466-AB68-D0702C53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0E84A62D-6C7B-4EEE-9FD1-D825CB2D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Auto-Scale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201CEFC4-01DC-459D-84CC-8F429714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HPA (multi-replica)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VPA (vertical)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Scale-to-zero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GPU pool warm pad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Pre-warm cache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Predictive scale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D800938C-DDD2-4EA6-A58B-06FC6B77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D4531B5E-B226-4458-A199-7D7EB016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466F78C-E6C0-4060-BC75-57B2DA12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SRE Concepts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B588283C-DC73-4E7D-AD03-571E3C3D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SLI = measured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SLO = target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SLA = customer promise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Error budget = 1-SLO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Postmortem blameless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Rollback first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2870205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04911E-FBA6-43F6-AD9E-FF05FD3E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2E2313-61BE-4FFD-B75A-59E9EC7F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4712DD7-F8A1-4920-A708-86B22FC4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7e0539b2445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0988d56fc46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6FAFD5F-2A47-4772-BD73-2951CA42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BFF6FE3-CECE-42D3-8F72-26D3BF00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Wrap-Up &amp; Persiapan Pertemuan 11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FD5CF8E-44A0-4633-B45D-E1089827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NLP &amp; LLM Integration di cloud apps minggu depan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55A044A9-CDF4-44FD-9A4E-3CAAA982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Key Takeaways Hari Ini</a:t>
            </a:r>
            <a:endParaRPr sz="16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A581B26-D401-4DF4-8BE0-671644CA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8BDD9BE-6A3C-4A1F-9000-EE1AD633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B5322EA-796C-4167-9BF7-0037D542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 production beda - model bisa silent fail, data drift bikin decay.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DDB98AB-CDE9-4AD6-B01A-FACDDB07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2E4DCEE-E045-4E51-98BF-EE39A1B4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38CF99B-6FCC-4BEE-9E90-4A22FC09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Monitor 3-layer: system (DevOps), model (ML eng), business (PM).</a:t>
            </a:r>
            <a:endParaRPr sz="10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05AC6DD1-E986-4557-801E-7F8501DE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949D532-A7F8-4592-A6B1-4E47C7E6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4458F85-EAE2-4C79-8A10-B3CA6E89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889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Drift detection: PSI/KS test untuk input, accuracy untuk concept.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111E389-5635-4995-8146-E216B001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03326CE-EA3F-465F-BDF1-48982C33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EE89880-05C0-4B1B-9D93-AD4E731B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Deploy: Shadow + Canary kombinasi paling aman untuk ML.</a:t>
            </a:r>
            <a:endParaRPr sz="10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874004B-18F5-4A4F-8665-D79E200A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759E071-8679-4C33-8902-86BCC57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6919CBB-39C4-4191-B70B-56437B7D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033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MLOps stack: MLflow + Feature Store + Evidently + Airflow.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AF080C1-C43B-4784-B142-4940BCF9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58A05E73-F270-4CAA-8D36-EA43BEE5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4B2ACC9-EB0D-4AFD-9C63-646EA8BA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GPU hemat: quantize INT8, spot instance, batching, caching.</a:t>
            </a:r>
            <a:endParaRPr sz="10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89A40057-96C2-4EE7-A126-6C44B737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F9BC334-6EEE-4192-BB13-A68C93FD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43E08B45-AB5F-4DFE-A435-1D3F3E97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SLO + Error Budget = framework untuk reliability decision.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91E3A070-7FD9-43CD-A5D4-604428E2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8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22d2e66e14c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F149C5E0-1C49-4915-9270-F69D7B71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10 - LATIHAN SESI INI</a:t>
            </a:r>
            <a:endParaRPr sz="1100"/>
          </a:p>
        </p:txBody>
      </p:sp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F377BE6B-9299-465E-904D-081F10B3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 HTTP tiga layanan lokal</a:t>
            </a:r>
            <a:endParaRPr sz="1300"/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7D1566EE-A766-474C-A54F-532559D2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5120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ns0:p xmlns:ns0="http://schemas.openxmlformats.org/drawingml/2006/main">
            <ns0:pPr marL="342900" indent="-342900">
              <ns0:spcAft>
                <ns0:spcPts val="300"/>
              </ns0:spcAft>
              <ns0:buSzPct val="100000"/>
              <ns0:buChar char="▸"/>
            </ns0:pPr>
            <ns0:r>
              <ns0:rPr sz="1050">
                <ns0:solidFill>
                  <ns0:srgbClr val="FFFFFF"/>
                </ns0:solidFill>
                <ns0:latin typeface="Calibri"/>
                <ns0:ea typeface="Calibri"/>
                <ns0:cs typeface="Calibri"/>
              </ns0:rPr>
              <ns0:t>Monitor API Compose 18006, Next 3000, Gradio 7860</ns0:t>
            </ns0:r>
            <ns0:endParaRPr sz="1050"/>
          </ns0:p>
          <ns1:p xmlns:ns1="http://schemas.openxmlformats.org/drawingml/2006/main">
            <ns1:pPr marL="342900" indent="-342900">
              <ns1:spcAft>
                <ns1:spcPts val="300"/>
              </ns1:spcAft>
              <ns1:buSzPct val="100000"/>
              <ns1:buChar char="▸"/>
            </ns1:pPr>
            <ns1:r>
              <ns1:rPr sz="1050">
                <ns1:solidFill>
                  <ns1:srgbClr val="FFFFFF"/>
                </ns1:solidFill>
                <ns1:latin typeface="Calibri"/>
                <ns1:ea typeface="Calibri"/>
                <ns1:cs typeface="Calibri"/>
              </ns1:rPr>
              <ns1:t>Hitung availability dan p95 respons sukses</ns1:t>
            </ns1:r>
            <ns1:endParaRPr sz="1050"/>
          </ns1:p>
          <ns2:p xmlns:ns2="http://schemas.openxmlformats.org/drawingml/2006/main">
            <ns2:pPr marL="342900" indent="-342900">
              <ns2:spcAft>
                <ns2:spcPts val="300"/>
              </ns2:spcAft>
              <ns2:buSzPct val="100000"/>
              <ns2:buChar char="▸"/>
            </ns2:pPr>
            <ns2:r>
              <ns2:rPr sz="1050">
                <ns2:solidFill>
                  <ns2:srgbClr val="FFFFFF"/>
                </ns2:solidFill>
                <ns2:latin typeface="Calibri"/>
                <ns2:ea typeface="Calibri"/>
                <ns2:cs typeface="Calibri"/>
              </ns2:rPr>
              <ns2:t>Hentikan Next, amati DOWN, lalu pulihkan</ns2:t>
            </ns2:r>
            <ns2:endParaRPr sz="1050"/>
          </ns2:p>
          <ns3:p xmlns:ns3="http://schemas.openxmlformats.org/drawingml/2006/main">
            <ns3:pPr marL="342900" indent="-342900">
              <ns3:spcAft>
                <ns3:spcPts val="300"/>
              </ns3:spcAft>
              <ns3:buSzPct val="100000"/>
              <ns3:buChar char="▸"/>
            </ns3:pPr>
            <ns3:r>
              <ns3:rPr sz="1050">
                <ns3:solidFill>
                  <ns3:srgbClr val="FFFFFF"/>
                </ns3:solidFill>
                <ns3:latin typeface="Calibri"/>
                <ns3:ea typeface="Calibri"/>
                <ns3:cs typeface="Calibri"/>
              </ns3:rPr>
              <ns3:t>Buka status page dan cocokkan log request Lab 08</ns3:t>
            </ns3:r>
            <ns3:endParaRPr sz="1050"/>
          </ns3:p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A414F8B2-56B1-452D-AD86-BDB5BC3D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548640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047f02cea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794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5B3D644C-5D84-46C9-9817-0CDDB4B8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PERTEMUAN 11</a:t>
            </a:r>
            <a:endParaRPr sz="1100"/>
          </a:p>
        </p:txBody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0443E772-A6CC-4EC5-B084-49D6605F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196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NLP &amp; LLM Integration</a:t>
            </a:r>
            <a:endParaRPr sz="1400"/>
          </a:p>
        </p:txBody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D28DD7EC-A830-4506-9E53-814F5E63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LLM API, embeddings, Supabase pgvector, RAG pattern, bikin chatbot pakai stack yang sudah kita pelajari.</a:t>
            </a:r>
            <a:endParaRPr sz="1100"/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8DB5120C-01D7-481B-AEDA-FE996A4A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d404e014d45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25780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D19AF1A5-85B6-4144-8EFD-FF819B78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0749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Pertanyaan?</a:t>
            </a:r>
            <a:endParaRPr sz="22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0593B852-8946-47A5-9B6D-C0AA5A28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7784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Diskusi sebelum praktikum</a:t>
            </a:r>
            <a:endParaRPr sz="1200"/>
          </a:p>
        </p:txBody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2EDE456E-2EE7-40AE-80F3-195FC9C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8A20A1C5-ED1F-4BD1-8598-BB2DBE7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LO3 (Evaluate)</a:t>
            </a:r>
            <a:r>
              <a:rPr sz="1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  +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LO1 (Analyze)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4546919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41B9BF7-287A-AB81-1027-47EDF710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800"/>
            <a:ext cx="88900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BB171FF-516D-58BD-B78C-C9B7F81C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3100"/>
            <a:ext cx="112776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4690"/>
                </a:solidFill>
                <a:latin typeface="Calibri"/>
                <a:ea typeface="Calibri"/>
                <a:cs typeface="Calibri"/>
              </a:rPr>
              <a:t>Observabilitas yang dapat diuji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B94A37B-DFAC-067C-345A-46EA4814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i="1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Ukur layanan web dan model, lalu definisikan target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A0FA3D-4E16-8CB6-F6FA-739B5ACE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0447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Catat metrik, log terstruktur, dan trace/request ID untuk tiap request.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1A325C9-8C72-FD59-0639-1B490939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Core Web Vitals saat ini: LCP, INP, CLS; FID adalah metrik historis.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82482FE-52CA-53CA-D00E-E7503C57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6449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Ukur p50/p95 latensi, error rate, uptime, dan biaya per request.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E488425-6D85-60BC-C586-8010835C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450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Buat SLI/SLO sederhana; uji monitor uptime dan alert opsional.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1482C09-CECC-C573-1DF3-B87DEF27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2451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Gunakan skrip sampling dan logger dari repo Lab 10.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B4471BC-0F80-9B7F-E758-33ACF426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3500"/>
            <a:ext cx="112776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Materi praktik: 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github.com/SeedFlora/meet10CloudService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  |  Sumber: RPS COMP6991031</a:t>
            </a:r>
          </a:p>
        </p:txBody>
      </p:sp>
    </p:spTree>
    <p:extLst>
      <p:ext uri="{BB962C8B-B14F-4D97-AF65-F5344CB8AC3E}">
        <p14:creationId xmlns:p14="http://schemas.microsoft.com/office/powerpoint/2010/main" val="3051458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5E69F-A5A4-460B-8584-DD8EDAF5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BINUS UNIVERSITY  |  Cloud Services  |  Pertemuan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C1715-3BB0-4D83-A56F-381D8944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2850" b="1" i="0">
                <a:solidFill>
                  <a:srgbClr val="07529A"/>
                </a:solidFill>
                <a:latin typeface="Calibri"/>
                <a:ea typeface="Calibri"/>
                <a:cs typeface="Calibri"/>
              </a:rPr>
              <a:t>Sebelum Lab 10: diagnosis layanan 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CBABF-EA24-4AD9-94E3-BC0DFEE9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F3772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37721"/>
                </a:solidFill>
                <a:latin typeface="Calibri"/>
                <a:ea typeface="Calibri"/>
                <a:cs typeface="Calibri"/>
              </a:rPr>
              <a:t>KASUS KERJA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1A79D-0B8D-4DA2-850B-AE82BCBF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64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Kasus kerja: skor model masih tampak benar, tetapi respons API melambat saat trafik meningkat. Tim perlu bukti sebelum mengubah kapasitas.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E94DE-6EA5-4A4F-8FBE-693D134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07529A"/>
                </a:solidFill>
                <a:latin typeface="Calibri"/>
                <a:ea typeface="Calibri"/>
                <a:cs typeface="Calibri"/>
              </a:rPr>
              <a:t>HUBUNGAN DENGAN LAB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76384-9573-423D-9D0A-B93DBAE0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561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Lab 10: kumpulkan log, waktu respons p50/p95, tingkat error, dan metrik aplikasi. Tetapkan SLI/SLO sederhana lalu uji apakah layanan memenuhi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DFE50-252E-477B-A991-297EE4CA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07529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4abacfd17df4e3f"/>
              </a:rPr>
              <a:t>Bacaan resmi: Google Cloud MLOps pipelines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F7BEB-52F5-4B50-8FF1-3B57C3A5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07529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12e3a907cf0469d"/>
              </a:rPr>
              <a:t>Video resmi: Microsoft AI Show, MLOps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01525-ABCF-4FAC-9DE4-06B9554C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457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Klik judul sumber saat tayang; tautan lengkap ada di catatan pembicara.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E305A-C1DA-4A0B-98C3-E0ED802B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Sumber: dokumentasi dan video resmi  |  Diverifikasi 8 Okt 2026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e27ff4a8a4363"/>
          <a:srcRect xmlns:a="http://schemas.openxmlformats.org/drawingml/2006/main" l="0" t="3101" r="0" b="3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787071"/>
            <a:ext cx="5286375" cy="31886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149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2026-10-07T19:02:16.6640000Z</dcterms:created>
  <dcterms:modified xsi:type="dcterms:W3CDTF">2026-10-07T19:02:16.6640000Z</dcterms:modified>
</coreProperties>
</file>