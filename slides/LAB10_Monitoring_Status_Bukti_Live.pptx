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88" r:id="rId2"/>
    <p:sldId id="289" r:id="rId3"/>
    <p:sldId id="290" r:id="rId4"/>
    <p:sldId id="291" r:id="rId5"/>
    <p:sldId id="292" r:id="rId6"/>
    <p:sldId id="293" r:id="rId7"/>
    <p:sldId id="294" r:id="rId8"/>
    <p:sldId id="295" r:id="rId9"/>
    <p:sldId id="300" r:id="rId19"/>
    <p:sldId id="296" r:id="rId10"/>
    <p:sldId id="297" r:id="rId11"/>
    <p:sldId id="298" r:id="rId12"/>
    <p:sldId id="29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13.png"/><Relationship Id="rId6" Type="http://schemas.openxmlformats.org/officeDocument/2006/relationships/image" Target="../media/image5.png"/><Relationship Id="rId7" Type="http://schemas.openxmlformats.org/officeDocument/2006/relationships/image" Target="../media/image10.png"/><Relationship Id="rId8" Type="http://schemas.openxmlformats.org/officeDocument/2006/relationships/image" Target="../media/image4.png"/><Relationship Id="rId9" Type="http://schemas.openxmlformats.org/officeDocument/2006/relationships/image" Target="../media/image9.png"/><Relationship Id="rId10" Type="http://schemas.openxmlformats.org/officeDocument/2006/relationships/image" Target="../media/image3.png"/><Relationship Id="rId11" Type="http://schemas.openxmlformats.org/officeDocument/2006/relationships/image" Target="../media/image8.png"/><Relationship Id="rId12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28600"/>
            <a:ext cx="914400" cy="603504"/>
          </a:xfrm>
          <a:prstGeom prst="rect">
            <a:avLst/>
          </a:prstGeom>
        </p:spPr>
      </p:pic>
      <p:pic>
        <p:nvPicPr>
          <p:cNvPr id="15" name="Imag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246888"/>
            <a:ext cx="1005840" cy="512064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75232139-FE44-4C56-9E52-FA0CBF00596E}"/>
              </a:ext>
            </a:extLst>
          </p:cNvPr>
          <p:cNvSpPr>
            <a:spLocks noGrp="1"/>
          </p:cNvSpPr>
          <p:nvPr/>
        </p:nvSpPr>
        <p:spPr>
          <a:xfrm>
            <a:off x="457200" y="2468880"/>
            <a:ext cx="1124712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10   |   100 MENIT</a:t>
            </a:r>
            <a:endParaRPr sz="140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CEB07E50-4FCC-43A6-9D30-D1CF5581824D}"/>
              </a:ext>
            </a:extLst>
          </p:cNvPr>
          <p:cNvSpPr>
            <a:spLocks noGrp="1"/>
          </p:cNvSpPr>
          <p:nvPr/>
        </p:nvSpPr>
        <p:spPr>
          <a:xfrm>
            <a:off x="457200" y="2788920"/>
            <a:ext cx="11247120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5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MONITORING</a:t>
            </a:r>
            <a:endParaRPr sz="500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23D60110-2C4E-442B-8296-C66A82AC5C1B}"/>
              </a:ext>
            </a:extLst>
          </p:cNvPr>
          <p:cNvSpPr>
            <a:spLocks noGrp="1"/>
          </p:cNvSpPr>
          <p:nvPr/>
        </p:nvSpPr>
        <p:spPr>
          <a:xfrm>
            <a:off x="457200" y="3611880"/>
            <a:ext cx="1124712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UPTIME + SLI/SLO</a:t>
            </a:r>
            <a:endParaRPr sz="240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19EDB5AF-DDB1-4C9A-AE24-C453CA0BC37A}"/>
              </a:ext>
            </a:extLst>
          </p:cNvPr>
          <p:cNvSpPr>
            <a:spLocks noGrp="1"/>
          </p:cNvSpPr>
          <p:nvPr/>
        </p:nvSpPr>
        <p:spPr>
          <a:xfrm>
            <a:off x="457200" y="4251960"/>
            <a:ext cx="112471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Probe tiga service, hitung p95, dan tampilkan status lokal</a:t>
            </a:r>
            <a:endParaRPr sz="160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40630B14-07E8-49F9-9B1D-6130C0EE0DD4}"/>
              </a:ext>
            </a:extLst>
          </p:cNvPr>
          <p:cNvSpPr>
            <a:spLocks noGrp="1"/>
          </p:cNvSpPr>
          <p:nvPr/>
        </p:nvSpPr>
        <p:spPr>
          <a:xfrm>
            <a:off x="5715000" y="4800600"/>
            <a:ext cx="731520" cy="54864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BFF5D6B0-8F03-4314-B671-01D37608F8A2}"/>
              </a:ext>
            </a:extLst>
          </p:cNvPr>
          <p:cNvSpPr>
            <a:spLocks noGrp="1"/>
          </p:cNvSpPr>
          <p:nvPr/>
        </p:nvSpPr>
        <p:spPr>
          <a:xfrm>
            <a:off x="457200" y="4937760"/>
            <a:ext cx="1124712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10  |  MONITORING + OBSERVABILITY</a:t>
            </a:r>
            <a:endParaRPr sz="120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FB09C05-575D-4CF3-A974-32A79369207E}"/>
              </a:ext>
            </a:extLst>
          </p:cNvPr>
          <p:cNvSpPr>
            <a:spLocks noGrp="1"/>
          </p:cNvSpPr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D9F9B630-ED50-4414-81E6-2FE18CEB6FC8}"/>
              </a:ext>
            </a:extLst>
          </p:cNvPr>
          <p:cNvSpPr>
            <a:spLocks noGrp="1"/>
          </p:cNvSpPr>
          <p:nvPr/>
        </p:nvSpPr>
        <p:spPr>
          <a:xfrm>
            <a:off x="457200" y="6217920"/>
            <a:ext cx="1124712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106936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670BFE7-6544-4BCE-A0AA-F3C79290433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4C0704D-8F88-47FB-ADE9-9A4819424761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BA0CAC4-B679-4D87-B75A-4C224E1D9928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44E830FC-3C3C-4778-A8E2-8B5B692C50CA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B9460A86-8F5C-4F3D-BA13-90BE65BBF8CA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10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47461A3-A8D9-4FBA-90B3-0EFAFC440A64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Synthetic check memakai Python standard library dan target dari tiga lab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05BF3839-0837-43FC-939F-6F90BD31C90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5DFA8A52-C532-4BBD-B0FC-CDDA91CE84B3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>
            <a:pPr marL="0" indent="0">
              <a:buNone/>
            </a:pPr>
            <a:endParaRPr lang="en-US"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54FB72EF-349F-4D99-9E78-CA35D1872A06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i-FI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Jalankan API, Next.js, Gradio</a:t>
            </a:r>
            <a:endParaRPr sz="1600"/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79EDB27B-BE5C-4DBE-B674-A2B5AC36179E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targets.local.json</a:t>
            </a:r>
            <a:endParaRPr sz="1600"/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630649C3-A8CC-4546-9FB8-9680CBC9A8D2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Kumpulkan observations.jsonl</a:t>
            </a:r>
            <a:endParaRPr sz="1600"/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0F3154A6-FE69-4A3F-BD6C-BDA816E5181F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Hitung availability dan p95</a:t>
            </a:r>
            <a:endParaRPr sz="1600"/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58E9C5E6-4726-48FF-8FB4-1CAF93E8F02B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Bangun status.html lokal</a:t>
            </a:r>
            <a:endParaRPr sz="1600"/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D5ACCAE4-5636-481C-B703-284828C7F9CC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Simulasi DOWN dan pemulihan</a:t>
            </a:r>
            <a:endParaRPr sz="1600"/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9AA27E46-1F9F-4F30-B61C-B65A88B2631F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Git tanpa webhook/URL privat</a:t>
            </a:r>
            <a:endParaRPr sz="1600"/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D4736192-8830-4D51-87B4-D73F6E9C6908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8E256A95-BA90-48D3-9F10-2AE8E4C1EBAC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YANG DIKUMPULKAN</a:t>
            </a:r>
          </a:p>
          <a:p>
            <a:pPr marL="0" indent="0">
              <a:buNone/>
            </a:pPr>
            <a:endParaRPr lang="en-US" sz="1100" b="1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mesin sendiri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7D99DA9B-348F-4A7C-8624-11CADAFB392E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JSONL probe tiga target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p95 dan availability sampel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Halaman UP lalu DOWN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Log JSON dan penjelasan budget</a:t>
            </a:r>
            <a:endParaRPr sz="17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30E7972D-B27B-42A5-8476-B824B067404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8D7A365F-EA98-433E-81A4-36E908F0A307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2454818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sv-SE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Siapkan tiga target nyata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Gunakan terminal terpisah untuk API Lab 06, Next.js Lab 08, Gradio Lab 09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Endpoint lokal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# Lab 06: docker compose up --build -d
# Lab 08: npm run dev
# Lab 09: .\.venv\Scripts\python app.py
Get-Content .\targets.local.json
Invoke-WebRequest `
  http://127.0.0.1:3000/api/health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Fungsi tiap target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Next.js: port 3000 /api/health.
API Compose: port 8000 /health.
Gradio: halaman web port 7860.
monitor.py membaca target JSON.
URL tidak boleh berisi credential.
Ketiga proses harus hidup saat uji UP.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660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it-IT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Ambil probe dan buat laporan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root repo Lab 10; data operasi lokal disimpan sebagai JSONL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python monitor.py --reset `
  --count 5 --interval 3
python report.py
python status.py
Invoke-Item .\status.html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 pipeline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--reset mulai file observasi baru.
Setiap siklus mengukur tiga URL.
JSONL menyimpan waktu, ok, HTTP, ms.
report.py menghitung up/checks dan p95.
status.py mengubah ringkasan jadi HTML.
Lima cek hanya sampel kelas.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2028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Probe dan laporan tiga target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monitor.py dan report.py dari run lokal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Setiap target mendapat lima baris probe.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HTTP 2xx/3xx dihitung UP.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availability = up / checks.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r-FR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p95 memakai latensi respons sukses.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it-IT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SLO contoh = 99% per periode.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JSONL dapat dibaca ulang kapan pun.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Waktu/angka berubah pada tiap mesin.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Tiga target tercatat beserta availability dan p95.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2070A65-44D9-299F-481B-4C4FC56BD439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2069447"/>
            <a:ext cx="5084064" cy="3066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940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Halaman status UP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nn-NO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status.py menulis status.html yang dibuka langsung di browser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Tiga kartu berasal dari JSONL.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Nama target dan UP terlihat jelas.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Availability sampel 100% saat sehat.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p95 memakai probe sukses.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Budget dihitung untuk target SLO 99%.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Timestamp menunjukkan waktu render.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sv-SE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HTML statis, tanpa server tambahan.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API, Next.js, Gradio semuanya UP.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D1AA5D-988E-F4D1-FEC7-160DEC1B13D7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8006" y="2057400"/>
            <a:ext cx="4806229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230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Simulasikan gangguan dan hitung ulang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Kasus kerja: UI Next.js mati, API dan model tetap hidup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python monitor.py --reset --count 3 --interval 1
# Hentikan npm run dev Lab 08 (Ctrl+C).
python monitor.py --count 2 --interval 1
python report.py
python status.py
Invoke-Item .\status.html
# Nyalakan kembali Lab 08 setelah uji.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analisis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Next.js memberi DOWN setelah gagal probe.
Target lain tetap UP: isolasi dampak.
2 kegagalan dari 5 → 60% jika total 5.
Budget 99% untuk 5 cek = 0.05.
Spent 2, sisa = -1.95 check.
Nilai negatif = budget terlampaui.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66122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Hanya Next.js DOWN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Simulasi insiden: Next.js dihentikan, API dan Gradio tetap hidup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Next.js merah dan DOWN.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API Compose serta Gradio tetap UP.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3/5 berarti availability sampel 60%.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r-FR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p95 68.19 ms dari request sukses.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Budget -1.95 menunjukkan overspend.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b-NO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Sampel kecil bukan SLO produksi.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Nyalakan lagi untuk menguji recovery.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noGrp="1"/>
          </p:cNvSpPr>
          <p:nvPr/>
        </p:nvSpPr>
        <p:spPr>
          <a:xfrm>
            <a:off x="6446520" y="150876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i-FI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Gangguan pada satu komponen terlihat terpisah.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0D24AA-675F-9B39-9F2E-49138205A777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8006" y="2057400"/>
            <a:ext cx="4806229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515903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>
            <a:extLst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pemulihan | Next.js UP lagi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Pemulihan simulasi insiden: Next.js UP, histori gagal tetap dihitung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Jalankan npm run dev Lab 08 lagi.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monitor.py --count 1 tanpa --reset.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report.py menghitung seluruh histori.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fr-FR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status.py memperbarui status.html.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Next.js UP; 4/6 = 66,67%.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nb-NO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Budget tetap negatif: -1,94 check.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API dan Gradio tetap UP 6/6.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noGrp="1"/>
          </p:cNvSpPr>
          <p:nvPr/>
        </p:nvSpPr>
        <p:spPr>
          <a:xfrm>
            <a:off x="6446520" y="150876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fi-FI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Status kini UP; SLI masih mencatat insiden.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3" name="Picture 62" descr="10_status_pulih_aktua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76299" y="2057400"/>
            <a:ext cx="3969641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Kunci challenge SLI, SLO, p95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Baca report.py; hitung dari data yang benar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Rumus di report.py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availability = len(ok) / len(rows)
latencies = sorted(r["latency_ms"]
                   for r in ok)
p95 = latencies[ceil(.95 * n) - 1]
budget_total = len(rows) * .01
budget_spent = len(rows) - len(ok)
budget_left = budget_total - budget_spent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Interpretasi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Availability menghitung sukses/all.
p95 hanya respons sukses.
Nearest-rank memilih posisi 95%.
SLO 99% adalah target, bukan hasil.
Budget berlaku pada periode terdefinisi.
Lima sampel tidak cukup untuk SLA nyata.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5567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Baca structured log tanpa secret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Route Handler Lab 08 menulis metadata request JSON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Reproduksi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# Jalankan kembali npm run dev Lab 08.
Invoke-RestMethod `
  http://127.0.0.1:3000/api/notes
# Lihat terminal Next.js, cari notes_proxy.
# Cocokkan X-Request-ID dari respons.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Batas data di logger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timestamp, level, event, requestId,
status, durationMs dapat dicari.
Tidak perlu log isi catatan/token.
Metrics = angka agregat.
Logs = peristiwa dengan konteks.
Traces = alur satu request lintas service.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6213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9AB9A9A-0947-462E-934E-B2400BC5469D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D4F55D9-27D4-46C6-8E07-7E01E2F5FE75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C05EB8C-1AB1-4E56-84FE-958525890D5F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4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44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A1F127FB-81B4-41A8-9C45-AA7F15155A0B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F3EF31C9-BAC9-43A5-9588-35F774ADA48D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Log JSON yang dapat dicari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3ED02C09-C53D-4B52-BD4C-71B1FEDDAD1D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Satu request Next.js menuju API Lab 06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511F3F0-6A98-41EF-8649-E696F4C9BFF2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B0515DAC-679C-41E5-BEF3-470237094B6D}"/>
              </a:ext>
            </a:extLst>
          </p:cNvPr>
          <p:cNvSpPr>
            <a:spLocks noGrp="1"/>
          </p:cNvSpPr>
          <p:nvPr/>
        </p:nvSpPr>
        <p:spPr>
          <a:xfrm>
            <a:off x="68580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0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697480"/>
            <a:ext cx="292608" cy="292608"/>
          </a:xfrm>
          <a:prstGeom prst="rect">
            <a:avLst/>
          </a:prstGeom>
        </p:spPr>
      </p:pic>
      <p:sp>
        <p:nvSpPr>
          <p:cNvPr id="13" name="Text 8">
            <a:extLst>
              <a:ext uri="{FF2B5EF4-FFF2-40B4-BE49-F238E27FC236}">
                <a16:creationId xmlns:a16="http://schemas.microsoft.com/office/drawing/2014/main" id="{7777633E-25E8-473B-85D1-A2CCDB704DE5}"/>
              </a:ext>
            </a:extLst>
          </p:cNvPr>
          <p:cNvSpPr>
            <a:spLocks noGrp="1"/>
          </p:cNvSpPr>
          <p:nvPr/>
        </p:nvSpPr>
        <p:spPr>
          <a:xfrm>
            <a:off x="1207008" y="26060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event notes_proxy berasal dari route.ts.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00400"/>
            <a:ext cx="292608" cy="292608"/>
          </a:xfrm>
          <a:prstGeom prst="rect">
            <a:avLst/>
          </a:prstGeom>
        </p:spPr>
      </p:pic>
      <p:sp>
        <p:nvSpPr>
          <p:cNvPr id="15" name="Text 9">
            <a:extLst>
              <a:ext uri="{FF2B5EF4-FFF2-40B4-BE49-F238E27FC236}">
                <a16:creationId xmlns:a16="http://schemas.microsoft.com/office/drawing/2014/main" id="{F45398AE-0FB6-42F9-BADC-B4E51CAC94BD}"/>
              </a:ext>
            </a:extLst>
          </p:cNvPr>
          <p:cNvSpPr>
            <a:spLocks noGrp="1"/>
          </p:cNvSpPr>
          <p:nvPr/>
        </p:nvSpPr>
        <p:spPr>
          <a:xfrm>
            <a:off x="1207008" y="31089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requestId menghubungkan respons/log.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4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703320"/>
            <a:ext cx="292608" cy="292608"/>
          </a:xfrm>
          <a:prstGeom prst="rect">
            <a:avLst/>
          </a:prstGeom>
        </p:spPr>
      </p:pic>
      <p:sp>
        <p:nvSpPr>
          <p:cNvPr id="17" name="Text 10">
            <a:extLst>
              <a:ext uri="{FF2B5EF4-FFF2-40B4-BE49-F238E27FC236}">
                <a16:creationId xmlns:a16="http://schemas.microsoft.com/office/drawing/2014/main" id="{3465C8B5-2F2E-41A5-9CE8-A1140A05F92B}"/>
              </a:ext>
            </a:extLst>
          </p:cNvPr>
          <p:cNvSpPr>
            <a:spLocks noGrp="1"/>
          </p:cNvSpPr>
          <p:nvPr/>
        </p:nvSpPr>
        <p:spPr>
          <a:xfrm>
            <a:off x="1207008" y="36118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status menunjukkan hasil upstream.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6" name="Image 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206240"/>
            <a:ext cx="292608" cy="292608"/>
          </a:xfrm>
          <a:prstGeom prst="rect">
            <a:avLst/>
          </a:prstGeom>
        </p:spPr>
      </p:pic>
      <p:sp>
        <p:nvSpPr>
          <p:cNvPr id="19" name="Text 11">
            <a:extLst>
              <a:ext uri="{FF2B5EF4-FFF2-40B4-BE49-F238E27FC236}">
                <a16:creationId xmlns:a16="http://schemas.microsoft.com/office/drawing/2014/main" id="{E3BA35A8-245C-4E42-B810-578F386C675B}"/>
              </a:ext>
            </a:extLst>
          </p:cNvPr>
          <p:cNvSpPr>
            <a:spLocks noGrp="1"/>
          </p:cNvSpPr>
          <p:nvPr/>
        </p:nvSpPr>
        <p:spPr>
          <a:xfrm>
            <a:off x="1207008" y="41148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durationMs adalah waktu proxy.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58" name="Image 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4709160"/>
            <a:ext cx="292608" cy="292608"/>
          </a:xfrm>
          <a:prstGeom prst="rect">
            <a:avLst/>
          </a:prstGeom>
        </p:spPr>
      </p:pic>
      <p:sp>
        <p:nvSpPr>
          <p:cNvPr id="21" name="Text 12">
            <a:extLst>
              <a:ext uri="{FF2B5EF4-FFF2-40B4-BE49-F238E27FC236}">
                <a16:creationId xmlns:a16="http://schemas.microsoft.com/office/drawing/2014/main" id="{AE08E845-E5A0-4491-8981-3F3026909A6E}"/>
              </a:ext>
            </a:extLst>
          </p:cNvPr>
          <p:cNvSpPr>
            <a:spLocks noGrp="1"/>
          </p:cNvSpPr>
          <p:nvPr/>
        </p:nvSpPr>
        <p:spPr>
          <a:xfrm>
            <a:off x="1207008" y="461772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Tidak ada isi catatan atau token.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0" name="Image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212080"/>
            <a:ext cx="292608" cy="292608"/>
          </a:xfrm>
          <a:prstGeom prst="rect">
            <a:avLst/>
          </a:prstGeom>
        </p:spPr>
      </p:pic>
      <p:sp>
        <p:nvSpPr>
          <p:cNvPr id="23" name="Text 13">
            <a:extLst>
              <a:ext uri="{FF2B5EF4-FFF2-40B4-BE49-F238E27FC236}">
                <a16:creationId xmlns:a16="http://schemas.microsoft.com/office/drawing/2014/main" id="{3AAF5F71-8C83-45DD-A1C2-6A37AE7ADA37}"/>
              </a:ext>
            </a:extLst>
          </p:cNvPr>
          <p:cNvSpPr>
            <a:spLocks noGrp="1"/>
          </p:cNvSpPr>
          <p:nvPr/>
        </p:nvSpPr>
        <p:spPr>
          <a:xfrm>
            <a:off x="1207008" y="51206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Log server tidak sama dengan UI browser.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pic>
        <p:nvPicPr>
          <p:cNvPr id="62" name="Image 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" y="5715000"/>
            <a:ext cx="292608" cy="292608"/>
          </a:xfrm>
          <a:prstGeom prst="rect">
            <a:avLst/>
          </a:prstGeom>
        </p:spPr>
      </p:pic>
      <p:sp>
        <p:nvSpPr>
          <p:cNvPr id="25" name="Text 14">
            <a:extLst>
              <a:ext uri="{FF2B5EF4-FFF2-40B4-BE49-F238E27FC236}">
                <a16:creationId xmlns:a16="http://schemas.microsoft.com/office/drawing/2014/main" id="{C7CDA5B9-11CE-4C44-977A-C028B4EEF951}"/>
              </a:ext>
            </a:extLst>
          </p:cNvPr>
          <p:cNvSpPr>
            <a:spLocks noGrp="1"/>
          </p:cNvSpPr>
          <p:nvPr/>
        </p:nvSpPr>
        <p:spPr>
          <a:xfrm>
            <a:off x="1207008" y="56235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400">
                <a:solidFill>
                  <a:srgbClr val="312124"/>
                </a:solidFill>
                <a:latin typeface="Aptos" panose="020B0004020202020204" pitchFamily="34" charset="0"/>
                <a:ea typeface="Calibri"/>
                <a:cs typeface="Calibri"/>
              </a:rPr>
              <a:t>Gunakan ID untuk troubleshooting.</a:t>
            </a:r>
            <a:endParaRPr sz="1400">
              <a:solidFill>
                <a:srgbClr val="312124"/>
              </a:solidFill>
              <a:latin typeface="Aptos" panose="020B0004020202020204" pitchFamily="34" charset="0"/>
            </a:endParaRPr>
          </a:p>
        </p:txBody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700288CD-FD9B-460A-854F-55CBD9ABDC2C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002677"/>
          </a:solidFill>
          <a:ln w="12700">
            <a:solidFill>
              <a:srgbClr val="002677"/>
            </a:solidFill>
            <a:prstDash val="solid"/>
          </a:ln>
        </p:spPr>
        <p:txBody>
          <a:bodyPr/>
          <a:p/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CB3350F3-3296-426D-863F-177ECABD3178}"/>
              </a:ext>
            </a:extLst>
          </p:cNvPr>
          <p:cNvSpPr>
            <a:spLocks noGrp="1"/>
          </p:cNvSpPr>
          <p:nvPr/>
        </p:nvSpPr>
        <p:spPr>
          <a:xfrm>
            <a:off x="6446520" y="1600200"/>
            <a:ext cx="51206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US"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>
              <a:ext uri="{FF2B5EF4-FFF2-40B4-BE49-F238E27FC236}">
                <a16:creationId xmlns:a16="http://schemas.microsoft.com/office/drawing/2014/main" id="{A18E4DFD-E12D-4609-A35A-914A51AE19D2}"/>
              </a:ext>
            </a:extLst>
          </p:cNvPr>
          <p:cNvSpPr>
            <a:spLocks noGrp="1"/>
          </p:cNvSpPr>
          <p:nvPr/>
        </p:nvSpPr>
        <p:spPr>
          <a:xfrm>
            <a:off x="6446520" y="2606040"/>
            <a:ext cx="5029200" cy="2743200"/>
          </a:xfrm>
          <a:prstGeom prst="rect">
            <a:avLst/>
          </a:prstGeom>
          <a:noFill/>
        </p:spPr>
        <p:txBody>
          <a:bodyPr wrap="square" anchor="ctr"/>
          <a:lstStyle/>
          <a:p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>
              <a:ext uri="{FF2B5EF4-FFF2-40B4-BE49-F238E27FC236}">
                <a16:creationId xmlns:a16="http://schemas.microsoft.com/office/drawing/2014/main" id="{F0706024-38A2-416F-B205-77840F63871B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26BEBC0A-D3A9-485A-A70F-650A3A86343C}"/>
              </a:ext>
            </a:extLst>
          </p:cNvPr>
          <p:cNvSpPr>
            <a:spLocks noGrp="1"/>
          </p:cNvSpPr>
          <p:nvPr/>
        </p:nvSpPr>
        <p:spPr>
          <a:xfrm>
            <a:off x="6446520" y="53492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500" i="1">
                <a:solidFill>
                  <a:srgbClr val="FFFFFF"/>
                </a:solidFill>
                <a:latin typeface="Aptos" panose="020B0004020202020204" pitchFamily="34" charset="0"/>
                <a:ea typeface="Calibri"/>
                <a:cs typeface="Calibri"/>
              </a:rPr>
              <a:t>Satu baris JSON menjelaskan request tanpa secret.</a:t>
            </a:r>
            <a:endParaRPr sz="15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E431B2-64F3-D19A-E35D-1922D5961501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9088" y="2593993"/>
            <a:ext cx="5084064" cy="2017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631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51B2EDE-56D0-4896-9CD6-C86D14D34152}"/>
              </a:ext>
            </a:extLst>
          </p:cNvPr>
          <p:cNvSpPr>
            <a:spLocks noGrp="1"/>
          </p:cNvSpPr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10</a:t>
            </a:r>
            <a:endParaRPr sz="90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5CFE9F8-72DD-4CCB-85CF-7C658CE0B028}"/>
              </a:ext>
            </a:extLst>
          </p:cNvPr>
          <p:cNvSpPr>
            <a:spLocks noGrp="1"/>
          </p:cNvSpPr>
          <p:nvPr/>
        </p:nvSpPr>
        <p:spPr>
          <a:xfrm>
            <a:off x="11247120" y="649224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lang="en-US"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55E14C0-7D13-4B50-A92E-306CDCC99592}"/>
              </a:ext>
            </a:extLst>
          </p:cNvPr>
          <p:cNvSpPr>
            <a:spLocks noGrp="1"/>
          </p:cNvSpPr>
          <p:nvPr/>
        </p:nvSpPr>
        <p:spPr>
          <a:xfrm>
            <a:off x="457200" y="6446520"/>
            <a:ext cx="228600" cy="36576"/>
          </a:xfrm>
          <a:prstGeom prst="rect">
            <a:avLst/>
          </a:prstGeom>
          <a:solidFill>
            <a:srgbClr val="F37021"/>
          </a:solidFill>
          <a:ln w="12700">
            <a:solidFill>
              <a:srgbClr val="F37021"/>
            </a:solidFill>
            <a:prstDash val="solid"/>
          </a:ln>
        </p:spPr>
        <p:txBody>
          <a:bodyPr/>
          <a:p/>
        </p:txBody>
      </p:sp>
      <p:pic>
        <p:nvPicPr>
          <p:cNvPr id="2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64592"/>
            <a:ext cx="914400" cy="603504"/>
          </a:xfrm>
          <a:prstGeom prst="rect">
            <a:avLst/>
          </a:prstGeom>
        </p:spPr>
      </p:pic>
      <p:pic>
        <p:nvPicPr>
          <p:cNvPr id="3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0" y="182880"/>
            <a:ext cx="1005840" cy="512064"/>
          </a:xfrm>
          <a:prstGeom prst="rect">
            <a:avLst/>
          </a:prstGeom>
        </p:spPr>
      </p:pic>
      <p:sp>
        <p:nvSpPr>
          <p:cNvPr id="7" name="Shape 3">
            <a:extLst>
              <a:ext uri="{FF2B5EF4-FFF2-40B4-BE49-F238E27FC236}">
                <a16:creationId xmlns:a16="http://schemas.microsoft.com/office/drawing/2014/main" id="{E404997F-173C-4E22-A72E-8CFB412D7706}"/>
              </a:ext>
            </a:extLst>
          </p:cNvPr>
          <p:cNvSpPr>
            <a:spLocks noGrp="1"/>
          </p:cNvSpPr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6CF796B5-56F1-4890-B330-5869D287A6B5}"/>
              </a:ext>
            </a:extLst>
          </p:cNvPr>
          <p:cNvSpPr>
            <a:spLocks noGrp="1"/>
          </p:cNvSpPr>
          <p:nvPr/>
        </p:nvSpPr>
        <p:spPr>
          <a:xfrm>
            <a:off x="2011680" y="182880"/>
            <a:ext cx="813816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6 | Alert opsional, recovery, dan Git</a:t>
            </a:r>
            <a:endParaRPr sz="22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12F1C4EB-98E2-4DC3-9D82-FB87203F7327}"/>
              </a:ext>
            </a:extLst>
          </p:cNvPr>
          <p:cNvSpPr>
            <a:spLocks noGrp="1"/>
          </p:cNvSpPr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Webhook hanya environment lokal; commit source aman</a:t>
            </a:r>
            <a:endParaRPr sz="120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DF8CC7F4-ED35-4A04-8415-70ACD2C0A81E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B411C01C-0CB8-4154-B3A8-6D74E1D55C0A}"/>
              </a:ext>
            </a:extLst>
          </p:cNvPr>
          <p:cNvSpPr>
            <a:spLocks noGrp="1"/>
          </p:cNvSpPr>
          <p:nvPr/>
        </p:nvSpPr>
        <p:spPr>
          <a:xfrm>
            <a:off x="457200" y="1417320"/>
            <a:ext cx="557784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462527B0-2FD1-4F8F-9486-ECDEEC6C79F1}"/>
              </a:ext>
            </a:extLst>
          </p:cNvPr>
          <p:cNvSpPr>
            <a:spLocks noGrp="1"/>
          </p:cNvSpPr>
          <p:nvPr/>
        </p:nvSpPr>
        <p:spPr>
          <a:xfrm>
            <a:off x="54864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CEA9217-0B7B-4F3D-8F5E-9245E634D2B6}"/>
              </a:ext>
            </a:extLst>
          </p:cNvPr>
          <p:cNvSpPr>
            <a:spLocks noGrp="1"/>
          </p:cNvSpPr>
          <p:nvPr/>
        </p:nvSpPr>
        <p:spPr>
          <a:xfrm>
            <a:off x="68580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5B3A4AC1-4C38-499E-9355-B79B9659CB78}"/>
              </a:ext>
            </a:extLst>
          </p:cNvPr>
          <p:cNvSpPr>
            <a:spLocks noGrp="1"/>
          </p:cNvSpPr>
          <p:nvPr/>
        </p:nvSpPr>
        <p:spPr>
          <a:xfrm>
            <a:off x="82296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6EB60959-1E9D-4E31-BA36-9E6852BA16D0}"/>
              </a:ext>
            </a:extLst>
          </p:cNvPr>
          <p:cNvSpPr>
            <a:spLocks noGrp="1"/>
          </p:cNvSpPr>
          <p:nvPr/>
        </p:nvSpPr>
        <p:spPr>
          <a:xfrm>
            <a:off x="1005840" y="141732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Kunci alert dan Git</a:t>
            </a:r>
            <a:endParaRPr sz="900"/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C340967-8F8A-42B0-85CE-592D55F14D89}"/>
              </a:ext>
            </a:extLst>
          </p:cNvPr>
          <p:cNvSpPr>
            <a:spLocks noGrp="1"/>
          </p:cNvSpPr>
          <p:nvPr/>
        </p:nvSpPr>
        <p:spPr>
          <a:xfrm>
            <a:off x="594360" y="1783080"/>
            <a:ext cx="530352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500">
                <a:solidFill>
                  <a:srgbClr val="FFFFFF"/>
                </a:solidFill>
                <a:latin typeface="Consolas" panose="020B0609020204030204" pitchFamily="49" charset="0"/>
                <a:ea typeface="Consolas"/>
                <a:cs typeface="Consolas"/>
              </a:rPr>
              <a:t># DISCORD_WEBHOOK_URL di environment,
# bukan di targets atau source.
python monitor.py --count 2 --interval 1
python report.py
git check-ignore observations.jsonl
git add monitor.py report.py status.py
git add targets.local.json README.md
git diff --cached --check
git commit -m "lab10: monitor status"
git push</a:t>
            </a:r>
            <a:endParaRPr sz="1500">
              <a:solidFill>
                <a:srgbClr val="FFFFFF"/>
              </a:solidFill>
              <a:latin typeface="Consolas" panose="020B0609020204030204" pitchFamily="49" charset="0"/>
            </a:endParaRPr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9BC739D4-5798-4228-9B77-D0807E2088EF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4754880"/>
          </a:xfrm>
          <a:prstGeom prst="rect">
            <a:avLst/>
          </a:prstGeom>
          <a:solidFill>
            <a:srgbClr val="1E293B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FD9EBF0B-E8C4-4AFB-AFE7-B6CEC2B6C004}"/>
              </a:ext>
            </a:extLst>
          </p:cNvPr>
          <p:cNvSpPr>
            <a:spLocks noGrp="1"/>
          </p:cNvSpPr>
          <p:nvPr/>
        </p:nvSpPr>
        <p:spPr>
          <a:xfrm>
            <a:off x="6217920" y="1417320"/>
            <a:ext cx="5486400" cy="2743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p/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47943E62-587A-41A0-AA91-65E9314111DC}"/>
              </a:ext>
            </a:extLst>
          </p:cNvPr>
          <p:cNvSpPr>
            <a:spLocks noGrp="1"/>
          </p:cNvSpPr>
          <p:nvPr/>
        </p:nvSpPr>
        <p:spPr>
          <a:xfrm>
            <a:off x="6309360" y="1499616"/>
            <a:ext cx="109728" cy="109728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20" name="Shape 16">
            <a:extLst>
              <a:ext uri="{FF2B5EF4-FFF2-40B4-BE49-F238E27FC236}">
                <a16:creationId xmlns:a16="http://schemas.microsoft.com/office/drawing/2014/main" id="{F04DFE67-2A9F-48AA-8EA4-C86F7B353DB4}"/>
              </a:ext>
            </a:extLst>
          </p:cNvPr>
          <p:cNvSpPr>
            <a:spLocks noGrp="1"/>
          </p:cNvSpPr>
          <p:nvPr/>
        </p:nvSpPr>
        <p:spPr>
          <a:xfrm>
            <a:off x="6446520" y="1499616"/>
            <a:ext cx="109728" cy="10972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97180367-74D6-4455-837C-10DB48453089}"/>
              </a:ext>
            </a:extLst>
          </p:cNvPr>
          <p:cNvSpPr>
            <a:spLocks noGrp="1"/>
          </p:cNvSpPr>
          <p:nvPr/>
        </p:nvSpPr>
        <p:spPr>
          <a:xfrm>
            <a:off x="6583680" y="1499616"/>
            <a:ext cx="109728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8A13D164-060E-41CA-8437-890A2B36EE1D}"/>
              </a:ext>
            </a:extLst>
          </p:cNvPr>
          <p:cNvSpPr>
            <a:spLocks noGrp="1"/>
          </p:cNvSpPr>
          <p:nvPr/>
        </p:nvSpPr>
        <p:spPr>
          <a:xfrm>
            <a:off x="6766560" y="1417320"/>
            <a:ext cx="47548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Mengapa dua kegagalan?</a:t>
            </a:r>
            <a:endParaRPr sz="90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B3EACD03-024A-4921-9CE4-CECC7D83730F}"/>
              </a:ext>
            </a:extLst>
          </p:cNvPr>
          <p:cNvSpPr>
            <a:spLocks noGrp="1"/>
          </p:cNvSpPr>
          <p:nvPr/>
        </p:nvSpPr>
        <p:spPr>
          <a:xfrm>
            <a:off x="6355080" y="1783080"/>
            <a:ext cx="5212080" cy="4297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600">
                <a:solidFill>
                  <a:srgbClr val="FFFFFF"/>
                </a:solidFill>
                <a:latin typeface="Aptos" panose="020B0004020202020204" pitchFamily="34" charset="0"/>
                <a:ea typeface="Consolas"/>
                <a:cs typeface="Consolas"/>
              </a:rPr>
              <a:t>monitor.py menghitung gagal beruntun.
Alert dikirim setelah dua gagal.
Sukses berikutnya reset counter.
Jangan kirim satu alert per probe gagal.
Konfigurasi URL publik opsional.
Jangan commit webhook URL nyata.</a:t>
            </a:r>
            <a:endParaRPr sz="1600">
              <a:solidFill>
                <a:srgbClr val="FFFFFF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32970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1356</Words>
  <Application>Microsoft Office PowerPoint</Application>
  <DocSecurity>0</DocSecurity>
  <PresentationFormat>Widescreen</PresentationFormat>
  <Paragraphs>133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Budi Juarto</cp:lastModifiedBy>
  <cp:revision>1</cp:revision>
  <dcterms:created xsi:type="dcterms:W3CDTF">2026-10-01T00:51:27Z</dcterms:created>
  <dcterms:modified xsi:type="dcterms:W3CDTF">2026-10-07T13:00:56Z</dcterms:modified>
</cp:coreProperties>
</file>